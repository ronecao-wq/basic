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22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slides/slide9.xml" Type="http://schemas.openxmlformats.org/officeDocument/2006/relationships/slide"/><Relationship Id="rId18" Target="slides/slide10.xml" Type="http://schemas.openxmlformats.org/officeDocument/2006/relationships/slide"/><Relationship Id="rId19" Target="slides/slide11.xml" Type="http://schemas.openxmlformats.org/officeDocument/2006/relationships/slide"/><Relationship Id="rId2" Target="viewProps.xml" Type="http://schemas.openxmlformats.org/officeDocument/2006/relationships/viewProps"/><Relationship Id="rId20" Target="slides/slide12.xml" Type="http://schemas.openxmlformats.org/officeDocument/2006/relationships/slide"/><Relationship Id="rId21" Target="slides/slide13.xml" Type="http://schemas.openxmlformats.org/officeDocument/2006/relationships/slide"/><Relationship Id="rId22" Target="slides/slide14.xml" Type="http://schemas.openxmlformats.org/officeDocument/2006/relationships/slide"/><Relationship Id="rId23" Target="slides/slide15.xml" Type="http://schemas.openxmlformats.org/officeDocument/2006/relationships/slide"/><Relationship Id="rId24" Target="slides/slide16.xml" Type="http://schemas.openxmlformats.org/officeDocument/2006/relationships/slide"/><Relationship Id="rId25" Target="slides/slide17.xml" Type="http://schemas.openxmlformats.org/officeDocument/2006/relationships/slide"/><Relationship Id="rId26" Target="slides/slide18.xml" Type="http://schemas.openxmlformats.org/officeDocument/2006/relationships/slide"/><Relationship Id="rId27" Target="slides/slide19.xml" Type="http://schemas.openxmlformats.org/officeDocument/2006/relationships/slide"/><Relationship Id="rId28" Target="slides/slide20.xml" Type="http://schemas.openxmlformats.org/officeDocument/2006/relationships/slide"/><Relationship Id="rId29" Target="slides/slide21.xml" Type="http://schemas.openxmlformats.org/officeDocument/2006/relationships/slide"/><Relationship Id="rId3" Target="presProps.xml" Type="http://schemas.openxmlformats.org/officeDocument/2006/relationships/presProps"/><Relationship Id="rId30" Target="slides/slide22.xml" Type="http://schemas.openxmlformats.org/officeDocument/2006/relationships/slide"/><Relationship Id="rId31" Target="notesSlides/notesSlide1.xml" Type="http://schemas.openxmlformats.org/officeDocument/2006/relationships/notesSlide"/><Relationship Id="rId32" Target="notesSlides/notesSlide2.xml" Type="http://schemas.openxmlformats.org/officeDocument/2006/relationships/notesSlide"/><Relationship Id="rId33" Target="notesSlides/notesSlide3.xml" Type="http://schemas.openxmlformats.org/officeDocument/2006/relationships/notesSlide"/><Relationship Id="rId34" Target="notesSlides/notesSlide4.xml" Type="http://schemas.openxmlformats.org/officeDocument/2006/relationships/notesSlide"/><Relationship Id="rId35" Target="notesSlides/notesSlide5.xml" Type="http://schemas.openxmlformats.org/officeDocument/2006/relationships/notesSlide"/><Relationship Id="rId36" Target="notesSlides/notesSlide6.xml" Type="http://schemas.openxmlformats.org/officeDocument/2006/relationships/notesSlide"/><Relationship Id="rId37" Target="notesSlides/notesSlide7.xml" Type="http://schemas.openxmlformats.org/officeDocument/2006/relationships/notesSlide"/><Relationship Id="rId38" Target="notesSlides/notesSlide8.xml" Type="http://schemas.openxmlformats.org/officeDocument/2006/relationships/notesSlide"/><Relationship Id="rId39" Target="notesSlides/notesSlide9.xml" Type="http://schemas.openxmlformats.org/officeDocument/2006/relationships/notesSlide"/><Relationship Id="rId4" Target="slideMasters/slideMaster1.xml" Type="http://schemas.openxmlformats.org/officeDocument/2006/relationships/slideMaster"/><Relationship Id="rId40" Target="notesSlides/notesSlide10.xml" Type="http://schemas.openxmlformats.org/officeDocument/2006/relationships/notesSlide"/><Relationship Id="rId41" Target="notesSlides/notesSlide11.xml" Type="http://schemas.openxmlformats.org/officeDocument/2006/relationships/notesSlide"/><Relationship Id="rId42" Target="notesSlides/notesSlide12.xml" Type="http://schemas.openxmlformats.org/officeDocument/2006/relationships/notesSlide"/><Relationship Id="rId43" Target="notesSlides/notesSlide13.xml" Type="http://schemas.openxmlformats.org/officeDocument/2006/relationships/notesSlide"/><Relationship Id="rId44" Target="notesSlides/notesSlide14.xml" Type="http://schemas.openxmlformats.org/officeDocument/2006/relationships/notesSlide"/><Relationship Id="rId45" Target="notesSlides/notesSlide15.xml" Type="http://schemas.openxmlformats.org/officeDocument/2006/relationships/notesSlide"/><Relationship Id="rId46" Target="notesSlides/notesSlide16.xml" Type="http://schemas.openxmlformats.org/officeDocument/2006/relationships/notesSlide"/><Relationship Id="rId47" Target="notesSlides/notesSlide17.xml" Type="http://schemas.openxmlformats.org/officeDocument/2006/relationships/notesSlide"/><Relationship Id="rId48" Target="notesSlides/notesSlide18.xml" Type="http://schemas.openxmlformats.org/officeDocument/2006/relationships/notesSlide"/><Relationship Id="rId49" Target="notesSlides/notesSlide19.xml" Type="http://schemas.openxmlformats.org/officeDocument/2006/relationships/notesSlide"/><Relationship Id="rId50" Target="notesSlides/notesSlide20.xml" Type="http://schemas.openxmlformats.org/officeDocument/2006/relationships/notesSlide"/><Relationship Id="rId51" Target="notesSlides/notesSlide21.xml" Type="http://schemas.openxmlformats.org/officeDocument/2006/relationships/notesSlide"/><Relationship Id="rId52" Target="notesSlides/notesSlide22.xml" Type="http://schemas.openxmlformats.org/officeDocument/2006/relationships/notesSlide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1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_rels/notesSlide2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_rels/notesSlide2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1.xml" Type="http://schemas.openxmlformats.org/officeDocument/2006/relationships/slide"/></Relationships>
</file>

<file path=ppt/notesSlides/_rels/notesSlide2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2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大家好，欢迎参加本次Agile培训。今天我们将深入讲解Scrum框架，帮助大家掌握敏捷开发的精髓，从而提升我们团队的整体效能和交付能力。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本次培训将分为四个部分。首先，我们会回顾Agile的基础知识，从敏捷宣言讲到Scrum框架的核心组成。接着，我们会进行Jira工具的实战演练，学习如何用它来管理敏捷项目。然后，我们会详细介绍敏捷开发中的各种会议流程。最后，是总结和问答环节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好，让我们进入第一部分：Agile基础知识。在这一章，我们将追溯敏捷的起源，并理解其核心思想是如何体现在Scrum这个具体框架中的。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Agile的故事始于2001年，十七位软件领域的专家在美国犹他州的雪鸟度假村聚首，共同签署了敏捷宣言。这次会议的背景，是大家普遍对当时占主导地位的瀑布模型感到不满，认为它无法适应快速变化的市场需求。敏捷宣言的诞生，标志着一种更快速、更灵活的软件开发理念的兴起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那么，瀑布模型到底有哪些问题呢？首先，它对需求变更的响应非常差，一旦进入开发阶段，再想改需求就非常困难。其次，它的交付周期很长，客户要等到项目末期才能看到产品，导致反馈严重延迟。最后，所有的风险都集中在项目后期，一旦测试阶段发现问题，修复成本会非常高。这些局限性正是敏捷方法想要解决的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敏捷宣言的核心体现在这四个价值观上。它强调人的互动比死板的流程更重要，能运行的软件比厚厚的文档更有价值，与客户的紧密合作比合同谈判更有效，以及积极响应变化比死守计划更明智。这四个价值观是我们理解和实践敏捷的基石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Scrum是最流行的敏捷框架之一，它可以看作是一个“容器”，将我们刚才提到的敏捷价值观落地为具体的角色、工件和事件。简单来说，Scrum由三个核心角色、三个关键工件和五个重要事件构成，它们共同协作，形成一个闭环的、持续改进的工作流程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Scrum定义了三个明确的角色。产品负责人，也就是PO，他负责定义产品需求，决定功能的优先级。Scrum Master，即SM，他像一个教练或服务型领导，负责移除团队工作中的障碍，确保Scrum流程被正确遵循。最后是开发团队，这是一个自组织的跨职能团队，他们共同负责在每个迭代中交付可用的产品增量。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除了角色，Scrum还有三个关键的工件，也就是我们工作的产出物。产品待办列表，是整个产品的需求清单，由PO维护并排序。冲刺待办列表，是团队在一个迭代中承诺要完成的具体任务和计划。而增量，则是每个迭代结束时，团队实际交付的、可以被评审的产品功能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了解了Scrum的理论框架后，我们来看看如何在实际工作中落地。接下来，我们将进入第二部分，详细讲解如何使用Jira这个强大的工具来进行敏捷项目管理。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首先，我们来熟悉一下Jira的基本界面。通过仪表盘，我们可以快速了解项目的整体进度和关键指标。Jira中的所有工作都围绕“问题”展开，不同的问题类型对应不同的工作项，它们会按照预设的状态流进行流转。此外，过滤器和看板视图是我们日常工作中最常用的功能，可以帮助我们聚焦于特定的任务和工作流程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在Jira中，我们主要通过创建不同类型的工作项来管理任务。比如，我们用用户故事来描述需求，将大的故事分解为具体的任务和子任务来执行。当发现问题时，我们创建缺陷并将其与相关的用户故事关联起来。同时，正确地分配负责人和设置截止日期，是保证任务被及时处理的关键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Jira完美支持Scrum的Sprint管理流程。我们可以在Jira中创建一个Sprint，并为其设定一个固定的时间盒，比如两周。然后，从产品待办列表中选择高优先级的项，规划到当前的Sprint中。在Sprint执行期间，团队成员需要每日更新任务的状态。最后，当Sprint结束时，我们可以在Jira中关闭Sprint，并基于报告进行回顾总结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了解Jira工单的关键字段，能让我们更高效地使用它。这里列出了一些最常用的字段，比如Issue Type定义了工作项的类型，Summary是对工作的简要描述，Description则记录详细信息，Assignee是任务的负责人，Priority是任务的优先级。正确填写这些字段，对于任务的清晰传达和有效管理至关重要。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还有一些关键字段也非常重要。Epic Link用于将多个相关的用户故事组织成一个大的功能模块。Team和Sprint字段则帮助我们对任务进行归类和跟踪。Original Estimate和Story Points用于工作量和复杂度的估算，这对于团队的容量规划和进度预测非常有帮助。最后，Fix Version字段指明了这个任务计划在哪个版本中发布。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掌握了工具之后，我们再来关注敏捷开发中另一个核心环节——会议。高效的会议是团队协作和持续改进的关键。接下来，我们将详细介绍Scrum中的几个重要会议流程。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Sprint规划会议是每个迭代的起点。通常，对于一个两周的Sprint，这个会议会持续约一个小时。在会议中，PO会向团队讲解本次Sprint的目标和待办项，团队成员则对需求进行澄清和估算，最后共同承诺一个可完成的任务集合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每日站会，顾名思义，是每天都要进行的简短会议，通常控制在15分钟以内。团队成员站着开会，旨在快速同步彼此的工作进度，并提出遇到的障碍，以便SM或其他成员能够及时提供帮助。会议的核心就是回答这三个简单的问题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Sprint回顾会议在每个迭代结束时举行，同样大约需要一个小时。这是一个团队进行自我反思和持续改进的重要会议。团队成员会一起回顾在这个Sprint中，哪些地方做得好，哪些地方有待改进，并共同制定具体的改进计划，应用到下一个Sprint中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除了上述固定的会议，我们还会按需召开产品待办项梳理会议。这个会议的主要目的是持续优化产品待办列表，确保其中的需求都是清晰、准确且按优先级排序的。PO会和开发团队一起，对需求进行添加、移除、重排和细化，为后续的Sprint规划做好准备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让我们来简单总结一下本次培训的核心内容。首先，掌握Scrum框架是我们进行敏捷实践的理论基础。其次，熟练使用Jira这样的工具，是我们将理论落地、实现高效项目管理的重要保障。最后，坚持执行敏捷会议，并从中不断学习和改进，是我们团队持续进步的关键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我的分享到此结束，感谢大家的聆听。接下来是问答环节，大家有任何问题都可以提出来，我们一起交流探讨。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12.svg" Type="http://schemas.openxmlformats.org/officeDocument/2006/relationships/image"/><Relationship Id="rId11" Target="../notesSlides/notesSlide2.xml" Type="http://schemas.openxmlformats.org/officeDocument/2006/relationships/notesSlide"/><Relationship Id="rId2" Target="../media/image4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9.png" Type="http://schemas.openxmlformats.org/officeDocument/2006/relationships/image"/><Relationship Id="rId8" Target="../media/image10.svg" Type="http://schemas.openxmlformats.org/officeDocument/2006/relationships/image"/><Relationship Id="rId9" Target="../media/image1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4.jpeg" Type="http://schemas.openxmlformats.org/officeDocument/2006/relationships/image"/><Relationship Id="rId3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notesSlides/notesSlide4.xml" Type="http://schemas.openxmlformats.org/officeDocument/2006/relationships/notesSlide"/><Relationship Id="rId2" Target="../media/image4.jpe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15.png" Type="http://schemas.openxmlformats.org/officeDocument/2006/relationships/image"/><Relationship Id="rId6" Target="../media/image16.svg" Type="http://schemas.openxmlformats.org/officeDocument/2006/relationships/image"/><Relationship Id="rId7" Target="../media/image17.png" Type="http://schemas.openxmlformats.org/officeDocument/2006/relationships/image"/><Relationship Id="rId8" Target="../media/image18.svg" Type="http://schemas.openxmlformats.org/officeDocument/2006/relationships/image"/><Relationship Id="rId9" Target="../media/image19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notesSlides/notesSlide5.xml" Type="http://schemas.openxmlformats.org/officeDocument/2006/relationships/notesSlide"/><Relationship Id="rId2" Target="../media/image4.jpeg" Type="http://schemas.openxmlformats.org/officeDocument/2006/relationships/image"/><Relationship Id="rId3" Target="../media/image20.png" Type="http://schemas.openxmlformats.org/officeDocument/2006/relationships/image"/><Relationship Id="rId4" Target="../media/image21.svg" Type="http://schemas.openxmlformats.org/officeDocument/2006/relationships/image"/><Relationship Id="rId5" Target="../media/image22.png" Type="http://schemas.openxmlformats.org/officeDocument/2006/relationships/image"/><Relationship Id="rId6" Target="../media/image23.svg" Type="http://schemas.openxmlformats.org/officeDocument/2006/relationships/image"/><Relationship Id="rId7" Target="../media/image24.png" Type="http://schemas.openxmlformats.org/officeDocument/2006/relationships/image"/><Relationship Id="rId8" Target="../media/image25.svg" Type="http://schemas.openxmlformats.org/officeDocument/2006/relationships/image"/><Relationship Id="rId9" Target="../media/image26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34.svg" Type="http://schemas.openxmlformats.org/officeDocument/2006/relationships/image"/><Relationship Id="rId11" Target="../notesSlides/notesSlide6.xml" Type="http://schemas.openxmlformats.org/officeDocument/2006/relationships/notesSlide"/><Relationship Id="rId2" Target="../media/image4.jpeg" Type="http://schemas.openxmlformats.org/officeDocument/2006/relationships/image"/><Relationship Id="rId3" Target="../media/image27.png" Type="http://schemas.openxmlformats.org/officeDocument/2006/relationships/image"/><Relationship Id="rId4" Target="../media/image28.svg" Type="http://schemas.openxmlformats.org/officeDocument/2006/relationships/image"/><Relationship Id="rId5" Target="../media/image29.png" Type="http://schemas.openxmlformats.org/officeDocument/2006/relationships/image"/><Relationship Id="rId6" Target="../media/image30.svg" Type="http://schemas.openxmlformats.org/officeDocument/2006/relationships/image"/><Relationship Id="rId7" Target="../media/image31.png" Type="http://schemas.openxmlformats.org/officeDocument/2006/relationships/image"/><Relationship Id="rId8" Target="../media/image32.svg" Type="http://schemas.openxmlformats.org/officeDocument/2006/relationships/image"/><Relationship Id="rId9" Target="../media/image3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notesSlides/notesSlide7.xml" Type="http://schemas.openxmlformats.org/officeDocument/2006/relationships/notesSlide"/><Relationship Id="rId2" Target="../media/image4.jpeg" Type="http://schemas.openxmlformats.org/officeDocument/2006/relationships/image"/><Relationship Id="rId3" Target="../media/image35.png" Type="http://schemas.openxmlformats.org/officeDocument/2006/relationships/image"/><Relationship Id="rId4" Target="../media/image36.svg" Type="http://schemas.openxmlformats.org/officeDocument/2006/relationships/image"/><Relationship Id="rId5" Target="../media/image37.png" Type="http://schemas.openxmlformats.org/officeDocument/2006/relationships/image"/><Relationship Id="rId6" Target="../media/image38.svg" Type="http://schemas.openxmlformats.org/officeDocument/2006/relationships/image"/><Relationship Id="rId7" Target="../media/image39.png" Type="http://schemas.openxmlformats.org/officeDocument/2006/relationships/image"/><Relationship Id="rId8" Target="../media/image40.svg" Type="http://schemas.openxmlformats.org/officeDocument/2006/relationships/image"/><Relationship Id="rId9" Target="../media/image4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4.jpeg" Type="http://schemas.openxmlformats.org/officeDocument/2006/relationships/image"/><Relationship Id="rId3" Target="../media/image42.png" Type="http://schemas.openxmlformats.org/officeDocument/2006/relationships/image"/><Relationship Id="rId4" Target="../media/image43.svg" Type="http://schemas.openxmlformats.org/officeDocument/2006/relationships/image"/><Relationship Id="rId5" Target="../media/image44.png" Type="http://schemas.openxmlformats.org/officeDocument/2006/relationships/image"/><Relationship Id="rId6" Target="../media/image45.svg" Type="http://schemas.openxmlformats.org/officeDocument/2006/relationships/image"/><Relationship Id="rId7" Target="../media/image46.png" Type="http://schemas.openxmlformats.org/officeDocument/2006/relationships/image"/><Relationship Id="rId8" Target="../media/image47.svg" Type="http://schemas.openxmlformats.org/officeDocument/2006/relationships/image"/><Relationship Id="rId9" Target="../notesSlides/notesSlide8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4.jpeg" Type="http://schemas.openxmlformats.org/officeDocument/2006/relationships/image"/><Relationship Id="rId3" Target="../media/image48.png" Type="http://schemas.openxmlformats.org/officeDocument/2006/relationships/image"/><Relationship Id="rId4" Target="../media/image49.svg" Type="http://schemas.openxmlformats.org/officeDocument/2006/relationships/image"/><Relationship Id="rId5" Target="../media/image50.png" Type="http://schemas.openxmlformats.org/officeDocument/2006/relationships/image"/><Relationship Id="rId6" Target="../media/image51.svg" Type="http://schemas.openxmlformats.org/officeDocument/2006/relationships/image"/><Relationship Id="rId7" Target="../media/image52.png" Type="http://schemas.openxmlformats.org/officeDocument/2006/relationships/image"/><Relationship Id="rId8" Target="../media/image53.svg" Type="http://schemas.openxmlformats.org/officeDocument/2006/relationships/image"/><Relationship Id="rId9" Target="../notesSlides/notesSlide9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4.jpeg" Type="http://schemas.openxmlformats.org/officeDocument/2006/relationships/image"/><Relationship Id="rId3" Target="../notesSlides/notesSlide10.xml" Type="http://schemas.openxmlformats.org/officeDocument/2006/relationships/notesSlide"/></Relationships>
</file>

<file path=ppt/slides/_rels/slide1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notesSlides/notesSlide11.xml" Type="http://schemas.openxmlformats.org/officeDocument/2006/relationships/notesSlide"/><Relationship Id="rId2" Target="../media/image4.jpeg" Type="http://schemas.openxmlformats.org/officeDocument/2006/relationships/image"/><Relationship Id="rId3" Target="../media/image54.png" Type="http://schemas.openxmlformats.org/officeDocument/2006/relationships/image"/><Relationship Id="rId4" Target="../media/image55.svg" Type="http://schemas.openxmlformats.org/officeDocument/2006/relationships/image"/><Relationship Id="rId5" Target="../media/image56.png" Type="http://schemas.openxmlformats.org/officeDocument/2006/relationships/image"/><Relationship Id="rId6" Target="../media/image57.svg" Type="http://schemas.openxmlformats.org/officeDocument/2006/relationships/image"/><Relationship Id="rId7" Target="../media/image58.png" Type="http://schemas.openxmlformats.org/officeDocument/2006/relationships/image"/><Relationship Id="rId8" Target="../media/image59.svg" Type="http://schemas.openxmlformats.org/officeDocument/2006/relationships/image"/><Relationship Id="rId9" Target="../media/image60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68.png" Type="http://schemas.openxmlformats.org/officeDocument/2006/relationships/image"/><Relationship Id="rId11" Target="../media/image69.svg" Type="http://schemas.openxmlformats.org/officeDocument/2006/relationships/image"/><Relationship Id="rId12" Target="../notesSlides/notesSlide12.xml" Type="http://schemas.openxmlformats.org/officeDocument/2006/relationships/notesSlide"/><Relationship Id="rId2" Target="../media/image4.jpeg" Type="http://schemas.openxmlformats.org/officeDocument/2006/relationships/image"/><Relationship Id="rId3" Target="../media/image61.jpeg" Type="http://schemas.openxmlformats.org/officeDocument/2006/relationships/image"/><Relationship Id="rId4" Target="../media/image62.png" Type="http://schemas.openxmlformats.org/officeDocument/2006/relationships/image"/><Relationship Id="rId5" Target="../media/image63.svg" Type="http://schemas.openxmlformats.org/officeDocument/2006/relationships/image"/><Relationship Id="rId6" Target="../media/image64.png" Type="http://schemas.openxmlformats.org/officeDocument/2006/relationships/image"/><Relationship Id="rId7" Target="../media/image65.svg" Type="http://schemas.openxmlformats.org/officeDocument/2006/relationships/image"/><Relationship Id="rId8" Target="../media/image66.png" Type="http://schemas.openxmlformats.org/officeDocument/2006/relationships/image"/><Relationship Id="rId9" Target="../media/image67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73.svg" Type="http://schemas.openxmlformats.org/officeDocument/2006/relationships/image"/><Relationship Id="rId11" Target="../media/image74.jpeg" Type="http://schemas.openxmlformats.org/officeDocument/2006/relationships/image"/><Relationship Id="rId12" Target="../notesSlides/notesSlide13.xml" Type="http://schemas.openxmlformats.org/officeDocument/2006/relationships/notesSlide"/><Relationship Id="rId2" Target="../media/image4.jpeg" Type="http://schemas.openxmlformats.org/officeDocument/2006/relationships/image"/><Relationship Id="rId3" Target="../media/image68.png" Type="http://schemas.openxmlformats.org/officeDocument/2006/relationships/image"/><Relationship Id="rId4" Target="../media/image69.svg" Type="http://schemas.openxmlformats.org/officeDocument/2006/relationships/image"/><Relationship Id="rId5" Target="../media/image50.png" Type="http://schemas.openxmlformats.org/officeDocument/2006/relationships/image"/><Relationship Id="rId6" Target="../media/image51.svg" Type="http://schemas.openxmlformats.org/officeDocument/2006/relationships/image"/><Relationship Id="rId7" Target="../media/image70.png" Type="http://schemas.openxmlformats.org/officeDocument/2006/relationships/image"/><Relationship Id="rId8" Target="../media/image71.svg" Type="http://schemas.openxmlformats.org/officeDocument/2006/relationships/image"/><Relationship Id="rId9" Target="../media/image72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43.svg" Type="http://schemas.openxmlformats.org/officeDocument/2006/relationships/image"/><Relationship Id="rId11" Target="../media/image81.png" Type="http://schemas.openxmlformats.org/officeDocument/2006/relationships/image"/><Relationship Id="rId12" Target="../media/image82.svg" Type="http://schemas.openxmlformats.org/officeDocument/2006/relationships/image"/><Relationship Id="rId13" Target="../media/image17.png" Type="http://schemas.openxmlformats.org/officeDocument/2006/relationships/image"/><Relationship Id="rId14" Target="../media/image18.svg" Type="http://schemas.openxmlformats.org/officeDocument/2006/relationships/image"/><Relationship Id="rId15" Target="../notesSlides/notesSlide14.xml" Type="http://schemas.openxmlformats.org/officeDocument/2006/relationships/notesSlide"/><Relationship Id="rId2" Target="../media/image4.jpeg" Type="http://schemas.openxmlformats.org/officeDocument/2006/relationships/image"/><Relationship Id="rId3" Target="../media/image75.png" Type="http://schemas.openxmlformats.org/officeDocument/2006/relationships/image"/><Relationship Id="rId4" Target="../media/image76.svg" Type="http://schemas.openxmlformats.org/officeDocument/2006/relationships/image"/><Relationship Id="rId5" Target="../media/image77.png" Type="http://schemas.openxmlformats.org/officeDocument/2006/relationships/image"/><Relationship Id="rId6" Target="../media/image78.svg" Type="http://schemas.openxmlformats.org/officeDocument/2006/relationships/image"/><Relationship Id="rId7" Target="../media/image79.png" Type="http://schemas.openxmlformats.org/officeDocument/2006/relationships/image"/><Relationship Id="rId8" Target="../media/image80.svg" Type="http://schemas.openxmlformats.org/officeDocument/2006/relationships/image"/><Relationship Id="rId9" Target="../media/image42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23.svg" Type="http://schemas.openxmlformats.org/officeDocument/2006/relationships/image"/><Relationship Id="rId11" Target="../media/image89.png" Type="http://schemas.openxmlformats.org/officeDocument/2006/relationships/image"/><Relationship Id="rId12" Target="../media/image90.svg" Type="http://schemas.openxmlformats.org/officeDocument/2006/relationships/image"/><Relationship Id="rId13" Target="../media/image13.png" Type="http://schemas.openxmlformats.org/officeDocument/2006/relationships/image"/><Relationship Id="rId14" Target="../media/image14.svg" Type="http://schemas.openxmlformats.org/officeDocument/2006/relationships/image"/><Relationship Id="rId15" Target="../notesSlides/notesSlide15.xml" Type="http://schemas.openxmlformats.org/officeDocument/2006/relationships/notesSlide"/><Relationship Id="rId2" Target="../media/image4.jpeg" Type="http://schemas.openxmlformats.org/officeDocument/2006/relationships/image"/><Relationship Id="rId3" Target="../media/image83.png" Type="http://schemas.openxmlformats.org/officeDocument/2006/relationships/image"/><Relationship Id="rId4" Target="../media/image84.svg" Type="http://schemas.openxmlformats.org/officeDocument/2006/relationships/image"/><Relationship Id="rId5" Target="../media/image85.png" Type="http://schemas.openxmlformats.org/officeDocument/2006/relationships/image"/><Relationship Id="rId6" Target="../media/image86.svg" Type="http://schemas.openxmlformats.org/officeDocument/2006/relationships/image"/><Relationship Id="rId7" Target="../media/image87.png" Type="http://schemas.openxmlformats.org/officeDocument/2006/relationships/image"/><Relationship Id="rId8" Target="../media/image88.svg" Type="http://schemas.openxmlformats.org/officeDocument/2006/relationships/image"/><Relationship Id="rId9" Target="../media/image22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4.jpeg" Type="http://schemas.openxmlformats.org/officeDocument/2006/relationships/image"/><Relationship Id="rId3" Target="../notesSlides/notesSlide16.xml" Type="http://schemas.openxmlformats.org/officeDocument/2006/relationships/notesSlide"/></Relationships>
</file>

<file path=ppt/slides/_rels/slide1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96.svg" Type="http://schemas.openxmlformats.org/officeDocument/2006/relationships/image"/><Relationship Id="rId11" Target="../media/image97.jpeg" Type="http://schemas.openxmlformats.org/officeDocument/2006/relationships/image"/><Relationship Id="rId12" Target="../notesSlides/notesSlide17.xml" Type="http://schemas.openxmlformats.org/officeDocument/2006/relationships/notesSlide"/><Relationship Id="rId2" Target="../media/image4.jpeg" Type="http://schemas.openxmlformats.org/officeDocument/2006/relationships/image"/><Relationship Id="rId3" Target="../media/image91.png" Type="http://schemas.openxmlformats.org/officeDocument/2006/relationships/image"/><Relationship Id="rId4" Target="../media/image92.svg" Type="http://schemas.openxmlformats.org/officeDocument/2006/relationships/image"/><Relationship Id="rId5" Target="../media/image93.png" Type="http://schemas.openxmlformats.org/officeDocument/2006/relationships/image"/><Relationship Id="rId6" Target="../media/image94.svg" Type="http://schemas.openxmlformats.org/officeDocument/2006/relationships/image"/><Relationship Id="rId7" Target="../media/image85.png" Type="http://schemas.openxmlformats.org/officeDocument/2006/relationships/image"/><Relationship Id="rId8" Target="../media/image86.svg" Type="http://schemas.openxmlformats.org/officeDocument/2006/relationships/image"/><Relationship Id="rId9" Target="../media/image95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notesSlides/notesSlide18.xml" Type="http://schemas.openxmlformats.org/officeDocument/2006/relationships/notesSlide"/><Relationship Id="rId2" Target="../media/image4.jpeg" Type="http://schemas.openxmlformats.org/officeDocument/2006/relationships/image"/><Relationship Id="rId3" Target="../media/image91.png" Type="http://schemas.openxmlformats.org/officeDocument/2006/relationships/image"/><Relationship Id="rId4" Target="../media/image92.svg" Type="http://schemas.openxmlformats.org/officeDocument/2006/relationships/image"/><Relationship Id="rId5" Target="../media/image98.png" Type="http://schemas.openxmlformats.org/officeDocument/2006/relationships/image"/><Relationship Id="rId6" Target="../media/image99.svg" Type="http://schemas.openxmlformats.org/officeDocument/2006/relationships/image"/><Relationship Id="rId7" Target="../media/image100.png" Type="http://schemas.openxmlformats.org/officeDocument/2006/relationships/image"/><Relationship Id="rId8" Target="../media/image101.svg" Type="http://schemas.openxmlformats.org/officeDocument/2006/relationships/image"/><Relationship Id="rId9" Target="../media/image102.jpe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104.svg" Type="http://schemas.openxmlformats.org/officeDocument/2006/relationships/image"/><Relationship Id="rId11" Target="../media/image105.jpeg" Type="http://schemas.openxmlformats.org/officeDocument/2006/relationships/image"/><Relationship Id="rId12" Target="../notesSlides/notesSlide19.xml" Type="http://schemas.openxmlformats.org/officeDocument/2006/relationships/notesSlide"/><Relationship Id="rId2" Target="../media/image4.jpeg" Type="http://schemas.openxmlformats.org/officeDocument/2006/relationships/image"/><Relationship Id="rId3" Target="../media/image91.png" Type="http://schemas.openxmlformats.org/officeDocument/2006/relationships/image"/><Relationship Id="rId4" Target="../media/image92.svg" Type="http://schemas.openxmlformats.org/officeDocument/2006/relationships/image"/><Relationship Id="rId5" Target="../media/image98.png" Type="http://schemas.openxmlformats.org/officeDocument/2006/relationships/image"/><Relationship Id="rId6" Target="../media/image99.svg" Type="http://schemas.openxmlformats.org/officeDocument/2006/relationships/image"/><Relationship Id="rId7" Target="../media/image85.png" Type="http://schemas.openxmlformats.org/officeDocument/2006/relationships/image"/><Relationship Id="rId8" Target="../media/image86.svg" Type="http://schemas.openxmlformats.org/officeDocument/2006/relationships/image"/><Relationship Id="rId9" Target="../media/image103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notesSlides/notesSlide20.xml" Type="http://schemas.openxmlformats.org/officeDocument/2006/relationships/notesSlide"/><Relationship Id="rId2" Target="../media/image4.jpeg" Type="http://schemas.openxmlformats.org/officeDocument/2006/relationships/image"/><Relationship Id="rId3" Target="../media/image22.png" Type="http://schemas.openxmlformats.org/officeDocument/2006/relationships/image"/><Relationship Id="rId4" Target="../media/image23.svg" Type="http://schemas.openxmlformats.org/officeDocument/2006/relationships/image"/><Relationship Id="rId5" Target="../media/image98.png" Type="http://schemas.openxmlformats.org/officeDocument/2006/relationships/image"/><Relationship Id="rId6" Target="../media/image99.svg" Type="http://schemas.openxmlformats.org/officeDocument/2006/relationships/image"/><Relationship Id="rId7" Target="../media/image106.png" Type="http://schemas.openxmlformats.org/officeDocument/2006/relationships/image"/><Relationship Id="rId8" Target="../media/image107.svg" Type="http://schemas.openxmlformats.org/officeDocument/2006/relationships/image"/><Relationship Id="rId9" Target="../media/image108.jpe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4.jpeg" Type="http://schemas.openxmlformats.org/officeDocument/2006/relationships/image"/><Relationship Id="rId3" Target="../media/image109.png" Type="http://schemas.openxmlformats.org/officeDocument/2006/relationships/image"/><Relationship Id="rId4" Target="../media/image110.svg" Type="http://schemas.openxmlformats.org/officeDocument/2006/relationships/image"/><Relationship Id="rId5" Target="../media/image50.png" Type="http://schemas.openxmlformats.org/officeDocument/2006/relationships/image"/><Relationship Id="rId6" Target="../media/image51.svg" Type="http://schemas.openxmlformats.org/officeDocument/2006/relationships/image"/><Relationship Id="rId7" Target="../media/image9.png" Type="http://schemas.openxmlformats.org/officeDocument/2006/relationships/image"/><Relationship Id="rId8" Target="../media/image10.svg" Type="http://schemas.openxmlformats.org/officeDocument/2006/relationships/image"/><Relationship Id="rId9" Target="../notesSlides/notesSlide21.xml" Type="http://schemas.openxmlformats.org/officeDocument/2006/relationships/notesSlide"/></Relationships>
</file>

<file path=ppt/slides/_rels/slide2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jpeg" Type="http://schemas.openxmlformats.org/officeDocument/2006/relationships/image"/><Relationship Id="rId3" Target="../notesSlides/notesSlide22.xml" Type="http://schemas.openxmlformats.org/officeDocument/2006/relationships/notesSlide"/><Relationship Id="rId4" Target="../media/image11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D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2413000"/>
            <a:ext cx="1016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Agile培训计划 - Scrum框架详解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34376" flipH="false" flipV="false">
            <a:off x="5461032" y="3359150"/>
            <a:ext cx="127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mpd="sng" cap="flat">
            <a:solidFill>
              <a:srgbClr val="FF7F00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6" id="6"/>
          <p:cNvSpPr/>
          <p:nvPr/>
        </p:nvSpPr>
        <p:spPr>
          <a:xfrm rot="0" flipH="false" flipV="false">
            <a:off x="1016000" y="35560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2000">
                <a:solidFill>
                  <a:srgbClr val="C8C8C8"/>
                </a:solidFill>
                <a:latin typeface="Noto Sans SC"/>
                <a:ea typeface="Noto Sans SC"/>
                <a:cs typeface="Noto Sans SC"/>
                <a:sym typeface="Noto Sans SC"/>
              </a:rPr>
              <a:t>掌握敏捷精髓，提升团队效能</a:t>
            </a:r>
            <a:endParaRPr lang="en-US" sz="1100"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5892800" y="4318000"/>
            <a:ext cx="406400" cy="406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52FF"/>
                </a:solidFill>
                <a:latin typeface="Noto Sans SC"/>
                <a:ea typeface="Noto Sans SC"/>
                <a:cs typeface="Noto Sans SC"/>
                <a:sym typeface="Noto Sans SC"/>
              </a:rPr>
              <a:t>培训大纲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651000"/>
            <a:ext cx="5080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90000"/>
            </a:srgbClr>
          </a:solidFill>
          <a:ln cmpd="sng" cap="flat">
            <a:solidFill>
              <a:srgbClr val="E6CFCF">
                <a:alpha val="90000"/>
              </a:srgbClr>
            </a:solidFill>
            <a:prstDash val="solid"/>
            <a:round/>
          </a:ln>
          <a:effectLst>
            <a:outerShdw dir="2700000" dist="50800" blurRad="127000" algn="tl" rotWithShape="false">
              <a:srgbClr val="0052FF">
                <a:alpha val="1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66800" y="1955800"/>
            <a:ext cx="406400" cy="4064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574800" y="1930400"/>
            <a:ext cx="762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FF7F00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66800" y="2413000"/>
            <a:ext cx="44704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Agile基础知识：从宣言到框架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66800" y="2794000"/>
            <a:ext cx="44704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808080"/>
                </a:solidFill>
                <a:latin typeface="Noto Sans SC"/>
                <a:ea typeface="Noto Sans SC"/>
                <a:cs typeface="Noto Sans SC"/>
                <a:sym typeface="Noto Sans SC"/>
              </a:rPr>
              <a:t>回顾敏捷宣言核心价值观，深入解析Scrum框架的角色、事件与工件。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350000" y="1651000"/>
            <a:ext cx="5080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90000"/>
            </a:srgbClr>
          </a:solidFill>
          <a:ln cmpd="sng" cap="flat">
            <a:solidFill>
              <a:srgbClr val="E6CFCF">
                <a:alpha val="90000"/>
              </a:srgbClr>
            </a:solidFill>
            <a:prstDash val="solid"/>
            <a:round/>
          </a:ln>
          <a:effectLst>
            <a:outerShdw dir="2700000" dist="50800" blurRad="127000" algn="tl" rotWithShape="false">
              <a:srgbClr val="0052FF">
                <a:alpha val="1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6654800" y="1955800"/>
            <a:ext cx="406400" cy="4064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7162800" y="1930400"/>
            <a:ext cx="762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FF7F00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654800" y="2413000"/>
            <a:ext cx="44704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Jira实战指南：敏捷管理工具详解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654800" y="2794000"/>
            <a:ext cx="44704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808080"/>
                </a:solidFill>
                <a:latin typeface="Noto Sans SC"/>
                <a:ea typeface="Noto Sans SC"/>
                <a:cs typeface="Noto Sans SC"/>
                <a:sym typeface="Noto Sans SC"/>
              </a:rPr>
              <a:t>掌握Jira项目创建、工作流配置及看板管理，实现敏捷开发的数字化落地。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762000" y="3810000"/>
            <a:ext cx="5080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90000"/>
            </a:srgbClr>
          </a:solidFill>
          <a:ln cmpd="sng" cap="flat">
            <a:solidFill>
              <a:srgbClr val="E6CFCF">
                <a:alpha val="90000"/>
              </a:srgbClr>
            </a:solidFill>
            <a:prstDash val="solid"/>
            <a:round/>
          </a:ln>
          <a:effectLst>
            <a:outerShdw dir="2700000" dist="50800" blurRad="127000" algn="tl" rotWithShape="false">
              <a:srgbClr val="0052FF">
                <a:alpha val="1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066800" y="4114800"/>
            <a:ext cx="406400" cy="4064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1574800" y="4089400"/>
            <a:ext cx="762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FF7F00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1066800" y="4572000"/>
            <a:ext cx="44704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敏捷会议流程：高效协作的关键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1066800" y="4953000"/>
            <a:ext cx="44704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808080"/>
                </a:solidFill>
                <a:latin typeface="Noto Sans SC"/>
                <a:ea typeface="Noto Sans SC"/>
                <a:cs typeface="Noto Sans SC"/>
                <a:sym typeface="Noto Sans SC"/>
              </a:rPr>
              <a:t>详解站会、迭代计划会、评审会与回顾会的流程、目标及高效执行技巧。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6350000" y="3810000"/>
            <a:ext cx="5080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90000"/>
            </a:srgbClr>
          </a:solidFill>
          <a:ln cmpd="sng" cap="flat">
            <a:solidFill>
              <a:srgbClr val="E6CFCF">
                <a:alpha val="90000"/>
              </a:srgbClr>
            </a:solidFill>
            <a:prstDash val="solid"/>
            <a:round/>
          </a:ln>
          <a:effectLst>
            <a:outerShdw dir="2700000" dist="50800" blurRad="127000" algn="tl" rotWithShape="false">
              <a:srgbClr val="0052FF">
                <a:alpha val="1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6654800" y="4114800"/>
            <a:ext cx="406400" cy="406400"/>
          </a:xfrm>
          <a:prstGeom prst="rect">
            <a:avLst/>
          </a:prstGeom>
        </p:spPr>
      </p:pic>
      <p:sp>
        <p:nvSpPr>
          <p:cNvPr name="AutoShape 20" id="20"/>
          <p:cNvSpPr/>
          <p:nvPr/>
        </p:nvSpPr>
        <p:spPr>
          <a:xfrm rot="0" flipH="false" flipV="false">
            <a:off x="7162800" y="4089400"/>
            <a:ext cx="762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FF7F00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6654800" y="4572000"/>
            <a:ext cx="44704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总结与Q&amp;A：回顾与答疑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6654800" y="4953000"/>
            <a:ext cx="44704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808080"/>
                </a:solidFill>
                <a:latin typeface="Noto Sans SC"/>
                <a:ea typeface="Noto Sans SC"/>
                <a:cs typeface="Noto Sans SC"/>
                <a:sym typeface="Noto Sans SC"/>
              </a:rPr>
              <a:t>总结本次培训核心要点，解答学员在敏捷实践中遇到的具体问题。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2286000" y="2159000"/>
            <a:ext cx="762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 spc="200">
                <a:solidFill>
                  <a:srgbClr val="0052FF"/>
                </a:solidFill>
                <a:latin typeface="Noto Sans SC"/>
                <a:ea typeface="Noto Sans SC"/>
                <a:cs typeface="Noto Sans SC"/>
                <a:sym typeface="Noto Sans SC"/>
              </a:rPr>
              <a:t>PART 01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16000" y="2667000"/>
            <a:ext cx="1016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Agile基础知识：从宣言到框架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57290" flipH="false" flipV="false">
            <a:off x="5715053" y="3613150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mpd="sng" cap="flat">
            <a:solidFill>
              <a:srgbClr val="FF7F00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5" id="5"/>
          <p:cNvSpPr/>
          <p:nvPr/>
        </p:nvSpPr>
        <p:spPr>
          <a:xfrm rot="0" flipH="false" flipV="false">
            <a:off x="2286000" y="3810000"/>
            <a:ext cx="762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808080"/>
                </a:solidFill>
                <a:latin typeface="Noto Sans SC"/>
                <a:ea typeface="Noto Sans SC"/>
                <a:cs typeface="Noto Sans SC"/>
                <a:sym typeface="Noto Sans SC"/>
              </a:rPr>
              <a:t>探索敏捷开发的核心理念与实践路径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52FF"/>
                </a:solidFill>
                <a:latin typeface="Noto Sans SC"/>
                <a:ea typeface="Noto Sans SC"/>
                <a:cs typeface="Noto Sans SC"/>
                <a:sym typeface="Noto Sans SC"/>
              </a:rPr>
              <a:t>Agile的起源与发展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524000"/>
            <a:ext cx="53340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0052FF">
                <a:alpha val="20000"/>
              </a:srgbClr>
            </a:solidFill>
            <a:prstDash val="solid"/>
            <a:round/>
          </a:ln>
          <a:effectLst>
            <a:outerShdw dir="2700000" dist="50800" blurRad="101600" algn="tl" rotWithShape="false">
              <a:srgbClr val="0052FF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1778000"/>
            <a:ext cx="406400" cy="4064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524000" y="1714500"/>
            <a:ext cx="431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52FF"/>
                </a:solidFill>
                <a:latin typeface="Noto Sans SC"/>
                <a:ea typeface="Noto Sans SC"/>
                <a:cs typeface="Noto Sans SC"/>
                <a:sym typeface="Noto Sans SC"/>
              </a:rPr>
              <a:t>2001年：敏捷宣言诞生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524000" y="2095500"/>
            <a:ext cx="431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808080"/>
                </a:solidFill>
                <a:latin typeface="Noto Sans SC"/>
                <a:ea typeface="Noto Sans SC"/>
                <a:cs typeface="Noto Sans SC"/>
                <a:sym typeface="Noto Sans SC"/>
              </a:rPr>
              <a:t>17位软件专家在雪鸟滑雪度假村聚首，共同签署了敏捷宣言，开启了软件开发的新篇章。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3111500"/>
            <a:ext cx="53340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0052FF">
                <a:alpha val="20000"/>
              </a:srgbClr>
            </a:solidFill>
            <a:prstDash val="solid"/>
            <a:round/>
          </a:ln>
          <a:effectLst>
            <a:outerShdw dir="2700000" dist="50800" blurRad="101600" algn="tl" rotWithShape="false">
              <a:srgbClr val="0052FF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016000" y="3365500"/>
            <a:ext cx="406400" cy="4064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1524000" y="3302000"/>
            <a:ext cx="431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52FF"/>
                </a:solidFill>
                <a:latin typeface="Noto Sans SC"/>
                <a:ea typeface="Noto Sans SC"/>
                <a:cs typeface="Noto Sans SC"/>
                <a:sym typeface="Noto Sans SC"/>
              </a:rPr>
              <a:t>背景：对传统模式的反思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524000" y="3683000"/>
            <a:ext cx="431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808080"/>
                </a:solidFill>
                <a:latin typeface="Noto Sans SC"/>
                <a:ea typeface="Noto Sans SC"/>
                <a:cs typeface="Noto Sans SC"/>
                <a:sym typeface="Noto Sans SC"/>
              </a:rPr>
              <a:t>针对传统瀑布模型响应慢、流程僵化的局限性，寻求更能适应市场快速变化的解决方案。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762000" y="4699000"/>
            <a:ext cx="53340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0052FF">
                <a:alpha val="20000"/>
              </a:srgbClr>
            </a:solidFill>
            <a:prstDash val="solid"/>
            <a:round/>
          </a:ln>
          <a:effectLst>
            <a:outerShdw dir="2700000" dist="50800" blurRad="101600" algn="tl" rotWithShape="false">
              <a:srgbClr val="0052FF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016000" y="4953000"/>
            <a:ext cx="406400" cy="4064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1524000" y="4889500"/>
            <a:ext cx="431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52FF"/>
                </a:solidFill>
                <a:latin typeface="Noto Sans SC"/>
                <a:ea typeface="Noto Sans SC"/>
                <a:cs typeface="Noto Sans SC"/>
                <a:sym typeface="Noto Sans SC"/>
              </a:rPr>
              <a:t>目标：快速与灵活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1524000" y="5270500"/>
            <a:ext cx="431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808080"/>
                </a:solidFill>
                <a:latin typeface="Noto Sans SC"/>
                <a:ea typeface="Noto Sans SC"/>
                <a:cs typeface="Noto Sans SC"/>
                <a:sym typeface="Noto Sans SC"/>
              </a:rPr>
              <a:t>致力于构建一种能够快速响应变更、以人为核心、迭代增量的高效软件开发方法。</a:t>
            </a:r>
            <a:endParaRPr lang="en-US" sz="1100"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9"/>
          <a:srcRect l="0" r="0" t="5000" b="5000"/>
          <a:stretch>
            <a:fillRect/>
          </a:stretch>
        </p:blipFill>
        <p:spPr>
          <a:xfrm rot="0" flipH="false" flipV="false">
            <a:off x="6350000" y="1524000"/>
            <a:ext cx="5080000" cy="4572000"/>
          </a:xfrm>
          <a:prstGeom prst="roundRect">
            <a:avLst>
              <a:gd name="adj" fmla="val 2777"/>
            </a:avLst>
          </a:prstGeom>
          <a:noFill/>
          <a:ln w="25400" cmpd="sng" cap="flat">
            <a:noFill/>
            <a:prstDash val="solid"/>
            <a:round/>
          </a:ln>
          <a:effectLst>
            <a:outerShdw dir="2700000" dist="63500" blurRad="127000" algn="tl" rotWithShape="false">
              <a:srgbClr val="000000">
                <a:alpha val="15000"/>
              </a:srgbClr>
            </a:outerShdw>
          </a:effectLst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52FF"/>
                </a:solidFill>
                <a:latin typeface="Noto Sans SC"/>
                <a:ea typeface="Noto Sans SC"/>
                <a:cs typeface="Noto Sans SC"/>
                <a:sym typeface="Noto Sans SC"/>
              </a:rPr>
              <a:t>传统瀑布模型的局限性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651000"/>
            <a:ext cx="5080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0052FF">
                <a:alpha val="20000"/>
              </a:srgbClr>
            </a:solidFill>
            <a:prstDash val="solid"/>
            <a:round/>
          </a:ln>
          <a:effectLst>
            <a:outerShdw dir="2700000" dist="50800" blurRad="101600" algn="tl" rotWithShape="false">
              <a:srgbClr val="0052FF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1905000"/>
            <a:ext cx="406400" cy="4064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524000" y="1841500"/>
            <a:ext cx="406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52FF"/>
                </a:solidFill>
                <a:latin typeface="Noto Sans SC"/>
                <a:ea typeface="Noto Sans SC"/>
                <a:cs typeface="Noto Sans SC"/>
                <a:sym typeface="Noto Sans SC"/>
              </a:rPr>
              <a:t>需求与变更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524000" y="2222500"/>
            <a:ext cx="4064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808080"/>
                </a:solidFill>
                <a:latin typeface="Noto Sans SC"/>
                <a:ea typeface="Noto Sans SC"/>
                <a:cs typeface="Noto Sans SC"/>
                <a:sym typeface="Noto Sans SC"/>
              </a:rPr>
              <a:t>变更困难，缺乏灵活性，难以适应需求变化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3175000"/>
            <a:ext cx="5080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0052FF">
                <a:alpha val="20000"/>
              </a:srgbClr>
            </a:solidFill>
            <a:prstDash val="solid"/>
            <a:round/>
          </a:ln>
          <a:effectLst>
            <a:outerShdw dir="2700000" dist="50800" blurRad="101600" algn="tl" rotWithShape="false">
              <a:srgbClr val="0052FF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016000" y="3429000"/>
            <a:ext cx="406400" cy="4064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1524000" y="3365500"/>
            <a:ext cx="406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52FF"/>
                </a:solidFill>
                <a:latin typeface="Noto Sans SC"/>
                <a:ea typeface="Noto Sans SC"/>
                <a:cs typeface="Noto Sans SC"/>
                <a:sym typeface="Noto Sans SC"/>
              </a:rPr>
              <a:t>交付与反馈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524000" y="3746500"/>
            <a:ext cx="4064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808080"/>
                </a:solidFill>
                <a:latin typeface="Noto Sans SC"/>
                <a:ea typeface="Noto Sans SC"/>
                <a:cs typeface="Noto Sans SC"/>
                <a:sym typeface="Noto Sans SC"/>
              </a:rPr>
              <a:t>周期长，反馈延迟，客户需等待末期才能验证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762000" y="4699000"/>
            <a:ext cx="5080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0052FF">
                <a:alpha val="20000"/>
              </a:srgbClr>
            </a:solidFill>
            <a:prstDash val="solid"/>
            <a:round/>
          </a:ln>
          <a:effectLst>
            <a:outerShdw dir="2700000" dist="50800" blurRad="101600" algn="tl" rotWithShape="false">
              <a:srgbClr val="0052FF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016000" y="4953000"/>
            <a:ext cx="406400" cy="4064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1524000" y="4889500"/>
            <a:ext cx="406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52FF"/>
                </a:solidFill>
                <a:latin typeface="Noto Sans SC"/>
                <a:ea typeface="Noto Sans SC"/>
                <a:cs typeface="Noto Sans SC"/>
                <a:sym typeface="Noto Sans SC"/>
              </a:rPr>
              <a:t>风险与质量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1524000" y="5270500"/>
            <a:ext cx="4064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808080"/>
                </a:solidFill>
                <a:latin typeface="Noto Sans SC"/>
                <a:ea typeface="Noto Sans SC"/>
                <a:cs typeface="Noto Sans SC"/>
                <a:sym typeface="Noto Sans SC"/>
              </a:rPr>
              <a:t>风险集中在后期，测试阶段发现问题修复成本高</a:t>
            </a:r>
            <a:endParaRPr lang="en-US" sz="1100"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9"/>
          <a:srcRect l="0" r="0" t="8536" b="8536"/>
          <a:stretch>
            <a:fillRect/>
          </a:stretch>
        </p:blipFill>
        <p:spPr>
          <a:xfrm rot="0" flipH="false" flipV="false">
            <a:off x="6223000" y="1651000"/>
            <a:ext cx="5207000" cy="4318000"/>
          </a:xfrm>
          <a:prstGeom prst="roundRect">
            <a:avLst>
              <a:gd name="adj" fmla="val 2941"/>
            </a:avLst>
          </a:prstGeom>
          <a:noFill/>
          <a:ln w="25400" cmpd="sng" cap="flat">
            <a:noFill/>
            <a:prstDash val="solid"/>
            <a:round/>
          </a:ln>
          <a:effectLst>
            <a:outerShdw dir="2700000" dist="63500" blurRad="127000" algn="tl" rotWithShape="false">
              <a:srgbClr val="000000">
                <a:alpha val="15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52FF"/>
                </a:solidFill>
                <a:latin typeface="Noto Sans SC"/>
                <a:ea typeface="Noto Sans SC"/>
                <a:cs typeface="Noto Sans SC"/>
                <a:sym typeface="Noto Sans SC"/>
              </a:rPr>
              <a:t>Agile 核心价值观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524000"/>
            <a:ext cx="5207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95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27000" algn="tl" rotWithShape="false">
              <a:srgbClr val="0052FF">
                <a:alpha val="1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1841500"/>
            <a:ext cx="609600" cy="6096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778000" y="1841500"/>
            <a:ext cx="393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个体与互动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-9291" flipH="false" flipV="false">
            <a:off x="1016009" y="2533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7" id="7"/>
          <p:cNvSpPr/>
          <p:nvPr/>
        </p:nvSpPr>
        <p:spPr>
          <a:xfrm rot="0" flipH="false" flipV="false">
            <a:off x="1016000" y="2667000"/>
            <a:ext cx="4699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个体与互动 高于 流程与工具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223000" y="1524000"/>
            <a:ext cx="5207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95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27000" algn="tl" rotWithShape="false">
              <a:srgbClr val="0052FF">
                <a:alpha val="1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6477000" y="1841500"/>
            <a:ext cx="609600" cy="6096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7239000" y="1841500"/>
            <a:ext cx="393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工作的软件</a:t>
            </a:r>
            <a:endParaRPr lang="en-US" sz="1100"/>
          </a:p>
        </p:txBody>
      </p:sp>
      <p:cxnSp>
        <p:nvCxnSpPr>
          <p:cNvPr name="Connector 11" id="11"/>
          <p:cNvCxnSpPr/>
          <p:nvPr/>
        </p:nvCxnSpPr>
        <p:spPr>
          <a:xfrm rot="-9291" flipH="false" flipV="false">
            <a:off x="6477009" y="2533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2" id="12"/>
          <p:cNvSpPr/>
          <p:nvPr/>
        </p:nvSpPr>
        <p:spPr>
          <a:xfrm rot="0" flipH="false" flipV="false">
            <a:off x="6477000" y="2667000"/>
            <a:ext cx="4699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工作的软件 高于 详尽的文档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762000" y="4064000"/>
            <a:ext cx="5207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95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27000" algn="tl" rotWithShape="false">
              <a:srgbClr val="0052FF">
                <a:alpha val="1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016000" y="4381500"/>
            <a:ext cx="609600" cy="6096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1778000" y="4381500"/>
            <a:ext cx="393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客户合作</a:t>
            </a:r>
            <a:endParaRPr lang="en-US" sz="1100"/>
          </a:p>
        </p:txBody>
      </p:sp>
      <p:cxnSp>
        <p:nvCxnSpPr>
          <p:cNvPr name="Connector 16" id="16"/>
          <p:cNvCxnSpPr/>
          <p:nvPr/>
        </p:nvCxnSpPr>
        <p:spPr>
          <a:xfrm rot="-9291" flipH="false" flipV="false">
            <a:off x="1016009" y="5073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7" id="17"/>
          <p:cNvSpPr/>
          <p:nvPr/>
        </p:nvSpPr>
        <p:spPr>
          <a:xfrm rot="0" flipH="false" flipV="false">
            <a:off x="1016000" y="5207000"/>
            <a:ext cx="4699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客户合作 高于 合同谈判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6223000" y="4064000"/>
            <a:ext cx="5207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95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27000" algn="tl" rotWithShape="false">
              <a:srgbClr val="0052FF">
                <a:alpha val="1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6477000" y="4381500"/>
            <a:ext cx="609600" cy="609600"/>
          </a:xfrm>
          <a:prstGeom prst="rect">
            <a:avLst/>
          </a:prstGeom>
        </p:spPr>
      </p:pic>
      <p:sp>
        <p:nvSpPr>
          <p:cNvPr name="AutoShape 20" id="20"/>
          <p:cNvSpPr/>
          <p:nvPr/>
        </p:nvSpPr>
        <p:spPr>
          <a:xfrm rot="0" flipH="false" flipV="false">
            <a:off x="7239000" y="4381500"/>
            <a:ext cx="393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响应变化</a:t>
            </a:r>
            <a:endParaRPr lang="en-US" sz="1100"/>
          </a:p>
        </p:txBody>
      </p:sp>
      <p:cxnSp>
        <p:nvCxnSpPr>
          <p:cNvPr name="Connector 21" id="21"/>
          <p:cNvCxnSpPr/>
          <p:nvPr/>
        </p:nvCxnSpPr>
        <p:spPr>
          <a:xfrm rot="-9291" flipH="false" flipV="false">
            <a:off x="6477009" y="5073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2" id="22"/>
          <p:cNvSpPr/>
          <p:nvPr/>
        </p:nvSpPr>
        <p:spPr>
          <a:xfrm rot="0" flipH="false" flipV="false">
            <a:off x="6477000" y="5207000"/>
            <a:ext cx="4699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响应变化 高于 遵循计划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52FF"/>
                </a:solidFill>
                <a:latin typeface="Noto Sans SC"/>
                <a:ea typeface="Noto Sans SC"/>
                <a:cs typeface="Noto Sans SC"/>
                <a:sym typeface="Noto Sans SC"/>
              </a:rPr>
              <a:t>Scrum框架概览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397000"/>
            <a:ext cx="5207000" cy="1524000"/>
          </a:xfrm>
          <a:prstGeom prst="roundRect">
            <a:avLst>
              <a:gd name="adj" fmla="val 8333"/>
            </a:avLst>
          </a:prstGeom>
          <a:solidFill>
            <a:srgbClr val="FFFFFF">
              <a:alpha val="9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01600" algn="tl" rotWithShape="false">
              <a:srgbClr val="0052FF">
                <a:alpha val="1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1587500"/>
            <a:ext cx="406400" cy="4064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524000" y="1587500"/>
            <a:ext cx="419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52FF"/>
                </a:solidFill>
                <a:latin typeface="Noto Sans SC"/>
                <a:ea typeface="Noto Sans SC"/>
                <a:cs typeface="Noto Sans SC"/>
                <a:sym typeface="Noto Sans SC"/>
              </a:rPr>
              <a:t>三个核心角色 (Roles)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1968500"/>
            <a:ext cx="4699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-177800" marL="177800">
              <a:lnSpc>
                <a:spcPct val="125000"/>
              </a:lnSpc>
              <a:buClr>
                <a:srgbClr val="505050"/>
              </a:buClr>
              <a:buChar char="•"/>
              <a:defRPr/>
            </a:pPr>
            <a:r>
              <a:rPr lang="en-US" b="false" i="false" strike="noStrike" u="none" sz="14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Product Owner (产品负责人)：定义价值，管理待办列表</a:t>
            </a:r>
            <a:r>
              <a:rPr lang="en-US" b="false" i="false" strike="noStrike" u="none" sz="14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-177800" marL="177800">
              <a:lnSpc>
                <a:spcPct val="125000"/>
              </a:lnSpc>
              <a:buClr>
                <a:srgbClr val="505050"/>
              </a:buClr>
              <a:buChar char="•"/>
            </a:pPr>
            <a:r>
              <a:rPr lang="en-US" b="false" i="false" strike="noStrike" u="none" sz="14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Scrum Master (敏捷教练)：保障流程，移除障碍</a:t>
            </a:r>
            <a:r>
              <a:rPr lang="en-US" b="false" i="false" strike="noStrike" u="none" sz="14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177800" marL="177800">
              <a:lnSpc>
                <a:spcPct val="125000"/>
              </a:lnSpc>
              <a:buClr>
                <a:srgbClr val="505050"/>
              </a:buClr>
              <a:buChar char="•"/>
            </a:pPr>
            <a:r>
              <a:rPr lang="en-US" b="false" i="false" strike="noStrike" u="none" sz="14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开发团队 (Development Team)：自组织，交付增量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3111500"/>
            <a:ext cx="5207000" cy="1524000"/>
          </a:xfrm>
          <a:prstGeom prst="roundRect">
            <a:avLst>
              <a:gd name="adj" fmla="val 8333"/>
            </a:avLst>
          </a:prstGeom>
          <a:solidFill>
            <a:srgbClr val="FFFFFF">
              <a:alpha val="9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01600" algn="tl" rotWithShape="false">
              <a:srgbClr val="0052FF">
                <a:alpha val="1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016000" y="3302000"/>
            <a:ext cx="406400" cy="4064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1524000" y="3302000"/>
            <a:ext cx="419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52FF"/>
                </a:solidFill>
                <a:latin typeface="Noto Sans SC"/>
                <a:ea typeface="Noto Sans SC"/>
                <a:cs typeface="Noto Sans SC"/>
                <a:sym typeface="Noto Sans SC"/>
              </a:rPr>
              <a:t>三个关键工件 (Artifacts)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016000" y="3683000"/>
            <a:ext cx="4699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-177800" marL="177800">
              <a:lnSpc>
                <a:spcPct val="125000"/>
              </a:lnSpc>
              <a:buClr>
                <a:srgbClr val="505050"/>
              </a:buClr>
              <a:buChar char="•"/>
              <a:defRPr/>
            </a:pPr>
            <a:r>
              <a:rPr lang="en-US" b="false" i="false" strike="noStrike" u="none" sz="14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Product Backlog：产品待办事项列表，按价值排序</a:t>
            </a:r>
            <a:r>
              <a:rPr lang="en-US" b="false" i="false" strike="noStrike" u="none" sz="14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-177800" marL="177800">
              <a:lnSpc>
                <a:spcPct val="125000"/>
              </a:lnSpc>
              <a:buClr>
                <a:srgbClr val="505050"/>
              </a:buClr>
              <a:buChar char="•"/>
            </a:pPr>
            <a:r>
              <a:rPr lang="en-US" b="false" i="false" strike="noStrike" u="none" sz="14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Sprint Backlog：冲刺待办列表，本次迭代的任务</a:t>
            </a:r>
            <a:r>
              <a:rPr lang="en-US" b="false" i="false" strike="noStrike" u="none" sz="14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177800" marL="177800">
              <a:lnSpc>
                <a:spcPct val="125000"/>
              </a:lnSpc>
              <a:buClr>
                <a:srgbClr val="505050"/>
              </a:buClr>
              <a:buChar char="•"/>
            </a:pPr>
            <a:r>
              <a:rPr lang="en-US" b="false" i="false" strike="noStrike" u="none" sz="14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Increment：迭代结束时可交付的产品增量</a:t>
            </a:r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762000" y="4826000"/>
            <a:ext cx="5207000" cy="1524000"/>
          </a:xfrm>
          <a:prstGeom prst="roundRect">
            <a:avLst>
              <a:gd name="adj" fmla="val 8333"/>
            </a:avLst>
          </a:prstGeom>
          <a:solidFill>
            <a:srgbClr val="FFFFFF">
              <a:alpha val="9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01600" algn="tl" rotWithShape="false">
              <a:srgbClr val="0052FF">
                <a:alpha val="1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016000" y="5016500"/>
            <a:ext cx="406400" cy="4064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1524000" y="5016500"/>
            <a:ext cx="419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52FF"/>
                </a:solidFill>
                <a:latin typeface="Noto Sans SC"/>
                <a:ea typeface="Noto Sans SC"/>
                <a:cs typeface="Noto Sans SC"/>
                <a:sym typeface="Noto Sans SC"/>
              </a:rPr>
              <a:t>五个重要事件 (Events)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1016000" y="5397500"/>
            <a:ext cx="4699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-177800" marL="177800">
              <a:lnSpc>
                <a:spcPct val="125000"/>
              </a:lnSpc>
              <a:buClr>
                <a:srgbClr val="505050"/>
              </a:buClr>
              <a:buChar char="•"/>
              <a:defRPr/>
            </a:pPr>
            <a:r>
              <a:rPr lang="en-US" b="false" i="false" strike="noStrike" u="none" sz="14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Sprint (冲刺)：核心迭代周期；规划会议；每日站会</a:t>
            </a:r>
            <a:r>
              <a:rPr lang="en-US" b="false" i="false" strike="noStrike" u="none" sz="14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-177800" marL="177800">
              <a:lnSpc>
                <a:spcPct val="125000"/>
              </a:lnSpc>
              <a:buClr>
                <a:srgbClr val="505050"/>
              </a:buClr>
              <a:buChar char="•"/>
            </a:pPr>
            <a:r>
              <a:rPr lang="en-US" b="false" i="false" strike="noStrike" u="none" sz="14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评审会议 (Review)：展示成果，获取反馈</a:t>
            </a:r>
            <a:r>
              <a:rPr lang="en-US" b="false" i="false" strike="noStrike" u="none" sz="14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177800" marL="177800">
              <a:lnSpc>
                <a:spcPct val="125000"/>
              </a:lnSpc>
              <a:buClr>
                <a:srgbClr val="505050"/>
              </a:buClr>
              <a:buChar char="•"/>
            </a:pPr>
            <a:r>
              <a:rPr lang="en-US" b="false" i="false" strike="noStrike" u="none" sz="14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回顾会议 (Retrospective)：总结经验，持续改进</a:t>
            </a:r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223000" y="1397000"/>
            <a:ext cx="5207000" cy="4953000"/>
          </a:xfrm>
          <a:prstGeom prst="roundRect">
            <a:avLst>
              <a:gd name="adj" fmla="val 2564"/>
            </a:avLst>
          </a:prstGeom>
          <a:solidFill>
            <a:srgbClr val="FFFFFF">
              <a:alpha val="9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01600" algn="tl" rotWithShape="false">
              <a:srgbClr val="0052FF">
                <a:alpha val="1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9"/>
          <a:srcRect l="0" r="0" t="2631" b="2631"/>
          <a:stretch>
            <a:fillRect/>
          </a:stretch>
        </p:blipFill>
        <p:spPr>
          <a:xfrm rot="0" flipH="false" flipV="false">
            <a:off x="6413500" y="1587500"/>
            <a:ext cx="4826000" cy="4572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52FF"/>
                </a:solidFill>
                <a:latin typeface="Noto Sans SC"/>
                <a:ea typeface="Noto Sans SC"/>
                <a:cs typeface="Noto Sans SC"/>
                <a:sym typeface="Noto Sans SC"/>
              </a:rPr>
              <a:t>Scrum的三个角色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524000"/>
            <a:ext cx="3302000" cy="4572000"/>
          </a:xfrm>
          <a:prstGeom prst="roundRect">
            <a:avLst>
              <a:gd name="adj" fmla="val 3846"/>
            </a:avLst>
          </a:prstGeom>
          <a:solidFill>
            <a:srgbClr val="FFFFFF">
              <a:alpha val="95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27000" algn="tl" rotWithShape="false">
              <a:srgbClr val="0052FF">
                <a:alpha val="1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968500" y="1905000"/>
            <a:ext cx="889000" cy="8890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016000" y="2921000"/>
            <a:ext cx="279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052FF"/>
                </a:solidFill>
                <a:latin typeface="Noto Sans SC"/>
                <a:ea typeface="Noto Sans SC"/>
                <a:cs typeface="Noto Sans SC"/>
                <a:sym typeface="Noto Sans SC"/>
              </a:rPr>
              <a:t>Product Owner (PO)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-21485" flipH="false" flipV="false">
            <a:off x="1397020" y="3359150"/>
            <a:ext cx="203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FF7F00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7" id="7"/>
          <p:cNvSpPr/>
          <p:nvPr/>
        </p:nvSpPr>
        <p:spPr>
          <a:xfrm rot="0" flipH="false" flipV="false">
            <a:off x="1016000" y="3556000"/>
            <a:ext cx="2794000" cy="228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just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808080"/>
                </a:solidFill>
                <a:latin typeface="Noto Sans SC"/>
                <a:ea typeface="Noto Sans SC"/>
                <a:cs typeface="Noto Sans SC"/>
                <a:sym typeface="Noto Sans SC"/>
              </a:rPr>
              <a:t>产品负责人，负责定义产品需求，决定功能优先级，并管理产品待办列表 (Product Backlog)。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4445000" y="1524000"/>
            <a:ext cx="3302000" cy="4572000"/>
          </a:xfrm>
          <a:prstGeom prst="roundRect">
            <a:avLst>
              <a:gd name="adj" fmla="val 3846"/>
            </a:avLst>
          </a:prstGeom>
          <a:solidFill>
            <a:srgbClr val="FFFFFF">
              <a:alpha val="95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27000" algn="tl" rotWithShape="false">
              <a:srgbClr val="0052FF">
                <a:alpha val="1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5651500" y="1905000"/>
            <a:ext cx="889000" cy="8890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4699000" y="2921000"/>
            <a:ext cx="279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052FF"/>
                </a:solidFill>
                <a:latin typeface="Noto Sans SC"/>
                <a:ea typeface="Noto Sans SC"/>
                <a:cs typeface="Noto Sans SC"/>
                <a:sym typeface="Noto Sans SC"/>
              </a:rPr>
              <a:t>Scrum Master (SM)</a:t>
            </a:r>
            <a:endParaRPr lang="en-US" sz="1100"/>
          </a:p>
        </p:txBody>
      </p:sp>
      <p:cxnSp>
        <p:nvCxnSpPr>
          <p:cNvPr name="Connector 11" id="11"/>
          <p:cNvCxnSpPr/>
          <p:nvPr/>
        </p:nvCxnSpPr>
        <p:spPr>
          <a:xfrm rot="-21485" flipH="false" flipV="false">
            <a:off x="5080020" y="3359150"/>
            <a:ext cx="203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FF7F00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12" id="12"/>
          <p:cNvSpPr/>
          <p:nvPr/>
        </p:nvSpPr>
        <p:spPr>
          <a:xfrm rot="0" flipH="false" flipV="false">
            <a:off x="4699000" y="3556000"/>
            <a:ext cx="2794000" cy="228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just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808080"/>
                </a:solidFill>
                <a:latin typeface="Noto Sans SC"/>
                <a:ea typeface="Noto Sans SC"/>
                <a:cs typeface="Noto Sans SC"/>
                <a:sym typeface="Noto Sans SC"/>
              </a:rPr>
              <a:t>Scrum教练，像服务型领导一样移除团队工作中的障碍，确保Scrum流程被正确遵循和执行。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8128000" y="1524000"/>
            <a:ext cx="3302000" cy="4572000"/>
          </a:xfrm>
          <a:prstGeom prst="roundRect">
            <a:avLst>
              <a:gd name="adj" fmla="val 3846"/>
            </a:avLst>
          </a:prstGeom>
          <a:solidFill>
            <a:srgbClr val="FFFFFF">
              <a:alpha val="95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27000" algn="tl" rotWithShape="false">
              <a:srgbClr val="0052FF">
                <a:alpha val="1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9334500" y="1905000"/>
            <a:ext cx="889000" cy="8890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8382000" y="2921000"/>
            <a:ext cx="279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052FF"/>
                </a:solidFill>
                <a:latin typeface="Noto Sans SC"/>
                <a:ea typeface="Noto Sans SC"/>
                <a:cs typeface="Noto Sans SC"/>
                <a:sym typeface="Noto Sans SC"/>
              </a:rPr>
              <a:t>开发团队 (Dev Team)</a:t>
            </a:r>
            <a:endParaRPr lang="en-US" sz="1100"/>
          </a:p>
        </p:txBody>
      </p:sp>
      <p:cxnSp>
        <p:nvCxnSpPr>
          <p:cNvPr name="Connector 16" id="16"/>
          <p:cNvCxnSpPr/>
          <p:nvPr/>
        </p:nvCxnSpPr>
        <p:spPr>
          <a:xfrm rot="-21485" flipH="false" flipV="false">
            <a:off x="8763020" y="3359150"/>
            <a:ext cx="203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FF7F00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17" id="17"/>
          <p:cNvSpPr/>
          <p:nvPr/>
        </p:nvSpPr>
        <p:spPr>
          <a:xfrm rot="0" flipH="false" flipV="false">
            <a:off x="8382000" y="3556000"/>
            <a:ext cx="2794000" cy="228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just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808080"/>
                </a:solidFill>
                <a:latin typeface="Noto Sans SC"/>
                <a:ea typeface="Noto Sans SC"/>
                <a:cs typeface="Noto Sans SC"/>
                <a:sym typeface="Noto Sans SC"/>
              </a:rPr>
              <a:t>自组织的跨职能团队，共同负责在每个迭代中交付潜在可发布的、高质量的产品增量。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52FF"/>
                </a:solidFill>
                <a:latin typeface="Noto Sans SC"/>
                <a:ea typeface="Noto Sans SC"/>
                <a:cs typeface="Noto Sans SC"/>
                <a:sym typeface="Noto Sans SC"/>
              </a:rPr>
              <a:t>Scrum的三个工件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651000"/>
            <a:ext cx="3302000" cy="4318000"/>
          </a:xfrm>
          <a:prstGeom prst="roundRect">
            <a:avLst>
              <a:gd name="adj" fmla="val 3846"/>
            </a:avLst>
          </a:prstGeom>
          <a:solidFill>
            <a:srgbClr val="FFFFFF">
              <a:alpha val="9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01600" blurRad="190500" algn="tl" rotWithShape="false">
              <a:srgbClr val="0052FF">
                <a:alpha val="1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2095500" y="2032000"/>
            <a:ext cx="635000" cy="6350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889000" y="2794000"/>
            <a:ext cx="304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52FF"/>
                </a:solidFill>
                <a:latin typeface="Noto Sans SC"/>
                <a:ea typeface="Noto Sans SC"/>
                <a:cs typeface="Noto Sans SC"/>
                <a:sym typeface="Noto Sans SC"/>
              </a:rPr>
              <a:t>Product Backlog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-28647" flipH="false" flipV="false">
            <a:off x="1270026" y="3232150"/>
            <a:ext cx="152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FF7F00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7" id="7"/>
          <p:cNvSpPr/>
          <p:nvPr/>
        </p:nvSpPr>
        <p:spPr>
          <a:xfrm rot="0" flipH="false" flipV="false">
            <a:off x="1016000" y="3429000"/>
            <a:ext cx="2794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just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产品的需求清单，由产品负责人(PO)维护并按优先级排序，是整个产品开发的单一真实来源。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4445000" y="1651000"/>
            <a:ext cx="3302000" cy="4318000"/>
          </a:xfrm>
          <a:prstGeom prst="roundRect">
            <a:avLst>
              <a:gd name="adj" fmla="val 3846"/>
            </a:avLst>
          </a:prstGeom>
          <a:solidFill>
            <a:srgbClr val="FFFFFF">
              <a:alpha val="9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01600" blurRad="190500" algn="tl" rotWithShape="false">
              <a:srgbClr val="0052FF">
                <a:alpha val="1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5778500" y="2032000"/>
            <a:ext cx="635000" cy="6350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4572000" y="2794000"/>
            <a:ext cx="304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52FF"/>
                </a:solidFill>
                <a:latin typeface="Noto Sans SC"/>
                <a:ea typeface="Noto Sans SC"/>
                <a:cs typeface="Noto Sans SC"/>
                <a:sym typeface="Noto Sans SC"/>
              </a:rPr>
              <a:t>Sprint Backlog</a:t>
            </a:r>
            <a:endParaRPr lang="en-US" sz="1100"/>
          </a:p>
        </p:txBody>
      </p:sp>
      <p:cxnSp>
        <p:nvCxnSpPr>
          <p:cNvPr name="Connector 11" id="11"/>
          <p:cNvCxnSpPr/>
          <p:nvPr/>
        </p:nvCxnSpPr>
        <p:spPr>
          <a:xfrm rot="-28647" flipH="false" flipV="false">
            <a:off x="4953026" y="3232150"/>
            <a:ext cx="152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FF7F00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12" id="12"/>
          <p:cNvSpPr/>
          <p:nvPr/>
        </p:nvSpPr>
        <p:spPr>
          <a:xfrm rot="0" flipH="false" flipV="false">
            <a:off x="4699000" y="3429000"/>
            <a:ext cx="2794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just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Sprint的执行计划，包含团队承诺完成的任务及实现目标的具体路径。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8128000" y="1651000"/>
            <a:ext cx="3302000" cy="4318000"/>
          </a:xfrm>
          <a:prstGeom prst="roundRect">
            <a:avLst>
              <a:gd name="adj" fmla="val 3846"/>
            </a:avLst>
          </a:prstGeom>
          <a:solidFill>
            <a:srgbClr val="FFFFFF">
              <a:alpha val="9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01600" blurRad="190500" algn="tl" rotWithShape="false">
              <a:srgbClr val="0052FF">
                <a:alpha val="1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9461500" y="2032000"/>
            <a:ext cx="635000" cy="6350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8255000" y="2794000"/>
            <a:ext cx="304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52FF"/>
                </a:solidFill>
                <a:latin typeface="Noto Sans SC"/>
                <a:ea typeface="Noto Sans SC"/>
                <a:cs typeface="Noto Sans SC"/>
                <a:sym typeface="Noto Sans SC"/>
              </a:rPr>
              <a:t>Increment</a:t>
            </a:r>
            <a:endParaRPr lang="en-US" sz="1100"/>
          </a:p>
        </p:txBody>
      </p:sp>
      <p:cxnSp>
        <p:nvCxnSpPr>
          <p:cNvPr name="Connector 16" id="16"/>
          <p:cNvCxnSpPr/>
          <p:nvPr/>
        </p:nvCxnSpPr>
        <p:spPr>
          <a:xfrm rot="-28647" flipH="false" flipV="false">
            <a:off x="8636026" y="3232150"/>
            <a:ext cx="152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FF7F00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17" id="17"/>
          <p:cNvSpPr/>
          <p:nvPr/>
        </p:nvSpPr>
        <p:spPr>
          <a:xfrm rot="0" flipH="false" flipV="false">
            <a:off x="8382000" y="3429000"/>
            <a:ext cx="2794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just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Sprint结束时产生的潜在可交付产品增量，必须是“完成”的、可用的软件功能。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2286000" y="2413000"/>
            <a:ext cx="762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0052FF"/>
                </a:solidFill>
                <a:latin typeface="Noto Sans SC"/>
                <a:ea typeface="Noto Sans SC"/>
                <a:cs typeface="Noto Sans SC"/>
                <a:sym typeface="Noto Sans SC"/>
              </a:rPr>
              <a:t>PART 02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16000" y="3048000"/>
            <a:ext cx="10160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Jira实战指南：敏捷管理工具详解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42969" flipH="false" flipV="false">
            <a:off x="5588040" y="412115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mpd="sng" cap="flat">
            <a:solidFill>
              <a:srgbClr val="FF7F00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52FF"/>
                </a:solidFill>
                <a:latin typeface="Noto Sans SC"/>
                <a:ea typeface="Noto Sans SC"/>
                <a:cs typeface="Noto Sans SC"/>
                <a:sym typeface="Noto Sans SC"/>
              </a:rPr>
              <a:t>Jira基础导航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524000"/>
            <a:ext cx="5080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9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01600" algn="tl" rotWithShape="false">
              <a:srgbClr val="0052FF">
                <a:alpha val="1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1841500"/>
            <a:ext cx="508000" cy="5080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651000" y="1714500"/>
            <a:ext cx="393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项目概览与仪表盘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651000" y="2095500"/>
            <a:ext cx="3937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808080"/>
                </a:solidFill>
                <a:latin typeface="Noto Sans SC"/>
                <a:ea typeface="Noto Sans SC"/>
                <a:cs typeface="Noto Sans SC"/>
                <a:sym typeface="Noto Sans SC"/>
              </a:rPr>
              <a:t>通过仪表盘快速掌握项目进度，监控关键指标与健康状态。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3048000"/>
            <a:ext cx="5080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9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01600" algn="tl" rotWithShape="false">
              <a:srgbClr val="0052FF">
                <a:alpha val="1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016000" y="3365500"/>
            <a:ext cx="508000" cy="5080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1651000" y="3238500"/>
            <a:ext cx="393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问题类型与状态流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651000" y="3619500"/>
            <a:ext cx="3937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808080"/>
                </a:solidFill>
                <a:latin typeface="Noto Sans SC"/>
                <a:ea typeface="Noto Sans SC"/>
                <a:cs typeface="Noto Sans SC"/>
                <a:sym typeface="Noto Sans SC"/>
              </a:rPr>
              <a:t>围绕“问题”展开工作，不同类型对应不同工作项，按预设流程流转。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762000" y="4572000"/>
            <a:ext cx="5080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9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01600" algn="tl" rotWithShape="false">
              <a:srgbClr val="0052FF">
                <a:alpha val="1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016000" y="4889500"/>
            <a:ext cx="508000" cy="5080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1651000" y="4762500"/>
            <a:ext cx="393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过滤器与看板视图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1651000" y="5143500"/>
            <a:ext cx="3937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808080"/>
                </a:solidFill>
                <a:latin typeface="Noto Sans SC"/>
                <a:ea typeface="Noto Sans SC"/>
                <a:cs typeface="Noto Sans SC"/>
                <a:sym typeface="Noto Sans SC"/>
              </a:rPr>
              <a:t>利用过滤器聚焦特定任务，通过看板视图直观管理工作流程。</a:t>
            </a:r>
            <a:endParaRPr lang="en-US" sz="1100"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9"/>
          <a:srcRect l="18905" r="18905" t="0" b="0"/>
          <a:stretch>
            <a:fillRect/>
          </a:stretch>
        </p:blipFill>
        <p:spPr>
          <a:xfrm rot="0" flipH="false" flipV="false">
            <a:off x="6223000" y="1524000"/>
            <a:ext cx="5207000" cy="4318000"/>
          </a:xfrm>
          <a:prstGeom prst="roundRect">
            <a:avLst>
              <a:gd name="adj" fmla="val 2941"/>
            </a:avLst>
          </a:prstGeom>
          <a:noFill/>
          <a:ln w="38100" cmpd="sng" cap="flat">
            <a:solidFill>
              <a:srgbClr val="FFFFFF">
                <a:alpha val="100000"/>
              </a:srgbClr>
            </a:solidFill>
            <a:prstDash val="solid"/>
            <a:round/>
          </a:ln>
          <a:effectLst>
            <a:outerShdw dir="2700000" dist="63500" blurRad="127000" algn="tl" rotWithShape="false">
              <a:srgbClr val="000000">
                <a:alpha val="20000"/>
              </a:srgbClr>
            </a:outerShdw>
          </a:effectLst>
        </p:spPr>
      </p:pic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52FF"/>
                </a:solidFill>
                <a:latin typeface="Noto Sans SC"/>
                <a:ea typeface="Noto Sans SC"/>
                <a:cs typeface="Noto Sans SC"/>
                <a:sym typeface="Noto Sans SC"/>
              </a:rPr>
              <a:t>Jira工作项管理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524000"/>
            <a:ext cx="4572000" cy="4318000"/>
          </a:xfrm>
          <a:prstGeom prst="roundRect">
            <a:avLst>
              <a:gd name="adj" fmla="val 2941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27000" algn="tl" rotWithShape="false">
              <a:srgbClr val="000000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r="0" t="3125" b="3125"/>
          <a:stretch>
            <a:fillRect/>
          </a:stretch>
        </p:blipFill>
        <p:spPr>
          <a:xfrm rot="0" flipH="false" flipV="false">
            <a:off x="1016000" y="1778000"/>
            <a:ext cx="4064000" cy="3810000"/>
          </a:xfrm>
          <a:prstGeom prst="roundRect">
            <a:avLst>
              <a:gd name="adj" fmla="val 3333"/>
            </a:avLst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5" id="5"/>
          <p:cNvSpPr/>
          <p:nvPr/>
        </p:nvSpPr>
        <p:spPr>
          <a:xfrm rot="0" flipH="false" flipV="false">
            <a:off x="5842000" y="1524000"/>
            <a:ext cx="5588000" cy="952500"/>
          </a:xfrm>
          <a:prstGeom prst="roundRect">
            <a:avLst>
              <a:gd name="adj" fmla="val 6666"/>
            </a:avLst>
          </a:prstGeom>
          <a:solidFill>
            <a:srgbClr val="FFFFFF">
              <a:alpha val="90000"/>
            </a:srgbClr>
          </a:solidFill>
          <a:ln w="25400" cmpd="sng" cap="flat">
            <a:noFill/>
            <a:prstDash val="solid"/>
            <a:round/>
          </a:ln>
          <a:effectLst>
            <a:outerShdw dir="2700000" dist="25400" blurRad="63500" algn="tl" rotWithShape="false">
              <a:srgbClr val="000000">
                <a:alpha val="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6032500" y="1739900"/>
            <a:ext cx="508000" cy="5080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6667500" y="1676400"/>
            <a:ext cx="4572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创建用户故事 (User Story)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808080"/>
                </a:solidFill>
                <a:latin typeface="Noto Sans SC"/>
                <a:ea typeface="Noto Sans SC"/>
                <a:cs typeface="Noto Sans SC"/>
                <a:sym typeface="Noto Sans SC"/>
              </a:rPr>
              <a:t>描述具体需求，明确业务价值与验收标准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5842000" y="2641600"/>
            <a:ext cx="5588000" cy="952500"/>
          </a:xfrm>
          <a:prstGeom prst="roundRect">
            <a:avLst>
              <a:gd name="adj" fmla="val 6666"/>
            </a:avLst>
          </a:prstGeom>
          <a:solidFill>
            <a:srgbClr val="FFFFFF">
              <a:alpha val="90000"/>
            </a:srgbClr>
          </a:solidFill>
          <a:ln w="25400" cmpd="sng" cap="flat">
            <a:noFill/>
            <a:prstDash val="solid"/>
            <a:round/>
          </a:ln>
          <a:effectLst>
            <a:outerShdw dir="2700000" dist="25400" blurRad="63500" algn="tl" rotWithShape="false">
              <a:srgbClr val="000000">
                <a:alpha val="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6032500" y="2857500"/>
            <a:ext cx="508000" cy="5080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6667500" y="2794000"/>
            <a:ext cx="4572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分解任务 (Task) 与子任务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808080"/>
                </a:solidFill>
                <a:latin typeface="Noto Sans SC"/>
                <a:ea typeface="Noto Sans SC"/>
                <a:cs typeface="Noto Sans SC"/>
                <a:sym typeface="Noto Sans SC"/>
              </a:rPr>
              <a:t>将大故事拆解为可执行的具体步骤，细化工作量</a:t>
            </a:r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5842000" y="3759200"/>
            <a:ext cx="5588000" cy="952500"/>
          </a:xfrm>
          <a:prstGeom prst="roundRect">
            <a:avLst>
              <a:gd name="adj" fmla="val 6666"/>
            </a:avLst>
          </a:prstGeom>
          <a:solidFill>
            <a:srgbClr val="FFFFFF">
              <a:alpha val="90000"/>
            </a:srgbClr>
          </a:solidFill>
          <a:ln w="25400" cmpd="sng" cap="flat">
            <a:noFill/>
            <a:prstDash val="solid"/>
            <a:round/>
          </a:ln>
          <a:effectLst>
            <a:outerShdw dir="2700000" dist="25400" blurRad="63500" algn="tl" rotWithShape="false">
              <a:srgbClr val="000000">
                <a:alpha val="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6032500" y="3975100"/>
            <a:ext cx="508000" cy="5080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6667500" y="3911600"/>
            <a:ext cx="4572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关联缺陷 (Bug) 与故事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808080"/>
                </a:solidFill>
                <a:latin typeface="Noto Sans SC"/>
                <a:ea typeface="Noto Sans SC"/>
                <a:cs typeface="Noto Sans SC"/>
                <a:sym typeface="Noto Sans SC"/>
              </a:rPr>
              <a:t>及时记录问题并追溯根源，确保质量闭环</a:t>
            </a:r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5842000" y="4876800"/>
            <a:ext cx="5588000" cy="952500"/>
          </a:xfrm>
          <a:prstGeom prst="roundRect">
            <a:avLst>
              <a:gd name="adj" fmla="val 6666"/>
            </a:avLst>
          </a:prstGeom>
          <a:solidFill>
            <a:srgbClr val="FFFFFF">
              <a:alpha val="90000"/>
            </a:srgbClr>
          </a:solidFill>
          <a:ln w="25400" cmpd="sng" cap="flat">
            <a:noFill/>
            <a:prstDash val="solid"/>
            <a:round/>
          </a:ln>
          <a:effectLst>
            <a:outerShdw dir="2700000" dist="25400" blurRad="63500" algn="tl" rotWithShape="false">
              <a:srgbClr val="000000">
                <a:alpha val="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6032500" y="5092700"/>
            <a:ext cx="508000" cy="5080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6667500" y="5029200"/>
            <a:ext cx="4572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分配负责人与设置截止日期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808080"/>
                </a:solidFill>
                <a:latin typeface="Noto Sans SC"/>
                <a:ea typeface="Noto Sans SC"/>
                <a:cs typeface="Noto Sans SC"/>
                <a:sym typeface="Noto Sans SC"/>
              </a:rPr>
              <a:t>明确责任人，设定时间节点，保障任务按时交付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52FF"/>
                </a:solidFill>
                <a:latin typeface="Noto Sans SC"/>
                <a:ea typeface="Noto Sans SC"/>
                <a:cs typeface="Noto Sans SC"/>
                <a:sym typeface="Noto Sans SC"/>
              </a:rPr>
              <a:t>Jira Sprint管理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524000"/>
            <a:ext cx="5080000" cy="1079500"/>
          </a:xfrm>
          <a:prstGeom prst="roundRect">
            <a:avLst>
              <a:gd name="adj" fmla="val 11764"/>
            </a:avLst>
          </a:prstGeom>
          <a:solidFill>
            <a:srgbClr val="FFFFFF">
              <a:alpha val="9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27000" algn="tl" rotWithShape="false">
              <a:srgbClr val="0052FF">
                <a:alpha val="1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1778000"/>
            <a:ext cx="406400" cy="4064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524000" y="1714500"/>
            <a:ext cx="406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创建Sprint与设置时间盒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524000" y="2032000"/>
            <a:ext cx="406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808080"/>
                </a:solidFill>
                <a:latin typeface="Noto Sans SC"/>
                <a:ea typeface="Noto Sans SC"/>
                <a:cs typeface="Noto Sans SC"/>
                <a:sym typeface="Noto Sans SC"/>
              </a:rPr>
              <a:t>设定Sprint的开始与结束时间，明确迭代周期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2730500"/>
            <a:ext cx="5080000" cy="1079500"/>
          </a:xfrm>
          <a:prstGeom prst="roundRect">
            <a:avLst>
              <a:gd name="adj" fmla="val 11764"/>
            </a:avLst>
          </a:prstGeom>
          <a:solidFill>
            <a:srgbClr val="FFFFFF">
              <a:alpha val="9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27000" algn="tl" rotWithShape="false">
              <a:srgbClr val="0052FF">
                <a:alpha val="1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016000" y="2984500"/>
            <a:ext cx="406400" cy="4064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1524000" y="2921000"/>
            <a:ext cx="406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从Product Backlog规划Sprint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524000" y="3238500"/>
            <a:ext cx="406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808080"/>
                </a:solidFill>
                <a:latin typeface="Noto Sans SC"/>
                <a:ea typeface="Noto Sans SC"/>
                <a:cs typeface="Noto Sans SC"/>
                <a:sym typeface="Noto Sans SC"/>
              </a:rPr>
              <a:t>从产品待办列表中选择高优先级任务进行规划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762000" y="3937000"/>
            <a:ext cx="5080000" cy="1079500"/>
          </a:xfrm>
          <a:prstGeom prst="roundRect">
            <a:avLst>
              <a:gd name="adj" fmla="val 11764"/>
            </a:avLst>
          </a:prstGeom>
          <a:solidFill>
            <a:srgbClr val="FFFFFF">
              <a:alpha val="9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27000" algn="tl" rotWithShape="false">
              <a:srgbClr val="0052FF">
                <a:alpha val="1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016000" y="4191000"/>
            <a:ext cx="406400" cy="4064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1524000" y="4127500"/>
            <a:ext cx="406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每日更新任务状态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1524000" y="4445000"/>
            <a:ext cx="406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808080"/>
                </a:solidFill>
                <a:latin typeface="Noto Sans SC"/>
                <a:ea typeface="Noto Sans SC"/>
                <a:cs typeface="Noto Sans SC"/>
                <a:sym typeface="Noto Sans SC"/>
              </a:rPr>
              <a:t>保持看板透明，实时跟踪任务进度与阻碍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762000" y="5143500"/>
            <a:ext cx="5080000" cy="1079500"/>
          </a:xfrm>
          <a:prstGeom prst="roundRect">
            <a:avLst>
              <a:gd name="adj" fmla="val 11764"/>
            </a:avLst>
          </a:prstGeom>
          <a:solidFill>
            <a:srgbClr val="FFFFFF">
              <a:alpha val="9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27000" algn="tl" rotWithShape="false">
              <a:srgbClr val="0052FF">
                <a:alpha val="1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1016000" y="5397500"/>
            <a:ext cx="406400" cy="4064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1524000" y="5334000"/>
            <a:ext cx="406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Sprint结束与回顾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1524000" y="5651500"/>
            <a:ext cx="406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808080"/>
                </a:solidFill>
                <a:latin typeface="Noto Sans SC"/>
                <a:ea typeface="Noto Sans SC"/>
                <a:cs typeface="Noto Sans SC"/>
                <a:sym typeface="Noto Sans SC"/>
              </a:rPr>
              <a:t>关闭Sprint并生成报告，进行团队回顾总结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223000" y="1524000"/>
            <a:ext cx="5207000" cy="4699000"/>
          </a:xfrm>
          <a:prstGeom prst="roundRect">
            <a:avLst>
              <a:gd name="adj" fmla="val 2702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76200" blurRad="190500" algn="tl" rotWithShape="false">
              <a:srgbClr val="000000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11"/>
          <a:srcRect l="0" r="0" t="5128" b="5128"/>
          <a:stretch>
            <a:fillRect/>
          </a:stretch>
        </p:blipFill>
        <p:spPr>
          <a:xfrm rot="0" flipH="false" flipV="false">
            <a:off x="6350000" y="1651000"/>
            <a:ext cx="4953000" cy="4445000"/>
          </a:xfrm>
          <a:prstGeom prst="roundRect">
            <a:avLst>
              <a:gd name="adj" fmla="val 2857"/>
            </a:avLst>
          </a:prstGeom>
          <a:noFill/>
          <a:ln w="25400" cmpd="sng" cap="flat">
            <a:noFill/>
            <a:prstDash val="solid"/>
            <a:round/>
          </a:ln>
        </p:spPr>
      </p:pic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52FF"/>
                </a:solidFill>
                <a:latin typeface="Noto Sans SC"/>
                <a:ea typeface="Noto Sans SC"/>
                <a:cs typeface="Noto Sans SC"/>
                <a:sym typeface="Noto Sans SC"/>
              </a:rPr>
              <a:t>Jira Ticket关键字段（一）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524000"/>
            <a:ext cx="33782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9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27000" algn="tl" rotWithShape="false">
              <a:srgbClr val="0052FF">
                <a:alpha val="1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1778000"/>
            <a:ext cx="355600" cy="3556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460500" y="1752600"/>
            <a:ext cx="2413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Issue Type (类型)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-15211" flipH="false" flipV="false">
            <a:off x="1016014" y="22161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6E6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7" id="7"/>
          <p:cNvSpPr/>
          <p:nvPr/>
        </p:nvSpPr>
        <p:spPr>
          <a:xfrm rot="0" flipH="false" flipV="false">
            <a:off x="1016000" y="2349500"/>
            <a:ext cx="28702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-165100" marL="165100">
              <a:lnSpc>
                <a:spcPct val="125000"/>
              </a:lnSpc>
              <a:buClr>
                <a:srgbClr val="666666"/>
              </a:buClr>
              <a:buChar char="•"/>
              <a:defRPr/>
            </a:pPr>
            <a:r>
              <a:rPr lang="en-US" b="false" i="false" strike="noStrike" u="none" sz="13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Tech Story, Story, Bug</a:t>
            </a:r>
            <a:r>
              <a:rPr lang="en-US" b="false" i="false" strike="noStrike" u="none" sz="13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-165100" marL="165100">
              <a:lnSpc>
                <a:spcPct val="125000"/>
              </a:lnSpc>
              <a:buClr>
                <a:srgbClr val="666666"/>
              </a:buClr>
              <a:buChar char="•"/>
            </a:pPr>
            <a:r>
              <a:rPr lang="en-US" b="false" i="false" strike="noStrike" u="none" sz="13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Epic, Sub-task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4394200" y="1524000"/>
            <a:ext cx="33782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9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27000" algn="tl" rotWithShape="false">
              <a:srgbClr val="0052FF">
                <a:alpha val="1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4648200" y="1778000"/>
            <a:ext cx="355600" cy="3556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5092700" y="1752600"/>
            <a:ext cx="2413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Summary (标题)</a:t>
            </a:r>
            <a:endParaRPr lang="en-US" sz="1100"/>
          </a:p>
        </p:txBody>
      </p:sp>
      <p:cxnSp>
        <p:nvCxnSpPr>
          <p:cNvPr name="Connector 11" id="11"/>
          <p:cNvCxnSpPr/>
          <p:nvPr/>
        </p:nvCxnSpPr>
        <p:spPr>
          <a:xfrm rot="-15211" flipH="false" flipV="false">
            <a:off x="4648214" y="22161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6E6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2" id="12"/>
          <p:cNvSpPr/>
          <p:nvPr/>
        </p:nvSpPr>
        <p:spPr>
          <a:xfrm rot="0" flipH="false" flipV="false">
            <a:off x="4648200" y="2349500"/>
            <a:ext cx="28702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一句话说清楚做什么，作为工单的核心标识，需简洁明了。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8026400" y="1524000"/>
            <a:ext cx="33782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9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27000" algn="tl" rotWithShape="false">
              <a:srgbClr val="0052FF">
                <a:alpha val="1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8280400" y="1778000"/>
            <a:ext cx="355600" cy="3556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8724900" y="1752600"/>
            <a:ext cx="2413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Description (详情)</a:t>
            </a:r>
            <a:endParaRPr lang="en-US" sz="1100"/>
          </a:p>
        </p:txBody>
      </p:sp>
      <p:cxnSp>
        <p:nvCxnSpPr>
          <p:cNvPr name="Connector 16" id="16"/>
          <p:cNvCxnSpPr/>
          <p:nvPr/>
        </p:nvCxnSpPr>
        <p:spPr>
          <a:xfrm rot="-15211" flipH="false" flipV="false">
            <a:off x="8280414" y="22161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6E6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7" id="17"/>
          <p:cNvSpPr/>
          <p:nvPr/>
        </p:nvSpPr>
        <p:spPr>
          <a:xfrm rot="0" flipH="false" flipV="false">
            <a:off x="8280400" y="2349500"/>
            <a:ext cx="28702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-165100" marL="165100">
              <a:lnSpc>
                <a:spcPct val="125000"/>
              </a:lnSpc>
              <a:buClr>
                <a:srgbClr val="666666"/>
              </a:buClr>
              <a:buChar char="•"/>
              <a:defRPr/>
            </a:pPr>
            <a:r>
              <a:rPr lang="en-US" b="false" i="false" strike="noStrike" u="none" sz="13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需求详情与业务背景</a:t>
            </a:r>
            <a:r>
              <a:rPr lang="en-US" b="false" i="false" strike="noStrike" u="none" sz="13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-165100" marL="165100">
              <a:lnSpc>
                <a:spcPct val="125000"/>
              </a:lnSpc>
              <a:buClr>
                <a:srgbClr val="666666"/>
              </a:buClr>
              <a:buChar char="•"/>
            </a:pPr>
            <a:r>
              <a:rPr lang="en-US" b="false" i="false" strike="noStrike" u="none" sz="13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Bug复现步骤与预期结果</a:t>
            </a:r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762000" y="4000500"/>
            <a:ext cx="33782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9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27000" algn="tl" rotWithShape="false">
              <a:srgbClr val="0052FF">
                <a:alpha val="1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1016000" y="4254500"/>
            <a:ext cx="355600" cy="355600"/>
          </a:xfrm>
          <a:prstGeom prst="rect">
            <a:avLst/>
          </a:prstGeom>
        </p:spPr>
      </p:pic>
      <p:sp>
        <p:nvSpPr>
          <p:cNvPr name="AutoShape 20" id="20"/>
          <p:cNvSpPr/>
          <p:nvPr/>
        </p:nvSpPr>
        <p:spPr>
          <a:xfrm rot="0" flipH="false" flipV="false">
            <a:off x="1460500" y="4229100"/>
            <a:ext cx="2413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Assignee (经办人)</a:t>
            </a:r>
            <a:endParaRPr lang="en-US" sz="1100"/>
          </a:p>
        </p:txBody>
      </p:sp>
      <p:cxnSp>
        <p:nvCxnSpPr>
          <p:cNvPr name="Connector 21" id="21"/>
          <p:cNvCxnSpPr/>
          <p:nvPr/>
        </p:nvCxnSpPr>
        <p:spPr>
          <a:xfrm rot="-15211" flipH="false" flipV="false">
            <a:off x="1016014" y="46926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6E6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2" id="22"/>
          <p:cNvSpPr/>
          <p:nvPr/>
        </p:nvSpPr>
        <p:spPr>
          <a:xfrm rot="0" flipH="false" flipV="false">
            <a:off x="1016000" y="4826000"/>
            <a:ext cx="28702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负责完成该任务的具体人员，是任务的直接责任人，需及时更新状态。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4394200" y="4000500"/>
            <a:ext cx="33782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9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27000" algn="tl" rotWithShape="false">
              <a:srgbClr val="0052FF">
                <a:alpha val="1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4" id="24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 flipH="false" flipV="false">
            <a:off x="4648200" y="4254500"/>
            <a:ext cx="355600" cy="355600"/>
          </a:xfrm>
          <a:prstGeom prst="rect">
            <a:avLst/>
          </a:prstGeom>
        </p:spPr>
      </p:pic>
      <p:sp>
        <p:nvSpPr>
          <p:cNvPr name="AutoShape 25" id="25"/>
          <p:cNvSpPr/>
          <p:nvPr/>
        </p:nvSpPr>
        <p:spPr>
          <a:xfrm rot="0" flipH="false" flipV="false">
            <a:off x="5092700" y="4229100"/>
            <a:ext cx="2413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Reporter (报告人)</a:t>
            </a:r>
            <a:endParaRPr lang="en-US" sz="1100"/>
          </a:p>
        </p:txBody>
      </p:sp>
      <p:cxnSp>
        <p:nvCxnSpPr>
          <p:cNvPr name="Connector 26" id="26"/>
          <p:cNvCxnSpPr/>
          <p:nvPr/>
        </p:nvCxnSpPr>
        <p:spPr>
          <a:xfrm rot="-15211" flipH="false" flipV="false">
            <a:off x="4648214" y="46926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6E6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7" id="27"/>
          <p:cNvSpPr/>
          <p:nvPr/>
        </p:nvSpPr>
        <p:spPr>
          <a:xfrm rot="0" flipH="false" flipV="false">
            <a:off x="4648200" y="4826000"/>
            <a:ext cx="28702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提出问题或需求的人员，负责提供初始信息并确认最终结果是否符合预期。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8026400" y="4000500"/>
            <a:ext cx="33782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9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27000" algn="tl" rotWithShape="false">
              <a:srgbClr val="0052FF">
                <a:alpha val="1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9" id="29"/>
          <p:cNvPicPr>
            <a:picLocks noChangeAspect="true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0" flipH="false" flipV="false">
            <a:off x="8280400" y="4254500"/>
            <a:ext cx="355600" cy="355600"/>
          </a:xfrm>
          <a:prstGeom prst="rect">
            <a:avLst/>
          </a:prstGeom>
        </p:spPr>
      </p:pic>
      <p:sp>
        <p:nvSpPr>
          <p:cNvPr name="AutoShape 30" id="30"/>
          <p:cNvSpPr/>
          <p:nvPr/>
        </p:nvSpPr>
        <p:spPr>
          <a:xfrm rot="0" flipH="false" flipV="false">
            <a:off x="8724900" y="4229100"/>
            <a:ext cx="2413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Priority (优先级)</a:t>
            </a:r>
            <a:endParaRPr lang="en-US" sz="1100"/>
          </a:p>
        </p:txBody>
      </p:sp>
      <p:cxnSp>
        <p:nvCxnSpPr>
          <p:cNvPr name="Connector 31" id="31"/>
          <p:cNvCxnSpPr/>
          <p:nvPr/>
        </p:nvCxnSpPr>
        <p:spPr>
          <a:xfrm rot="-15211" flipH="false" flipV="false">
            <a:off x="8280414" y="46926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6E6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32" id="32"/>
          <p:cNvSpPr/>
          <p:nvPr/>
        </p:nvSpPr>
        <p:spPr>
          <a:xfrm rot="0" flipH="false" flipV="false">
            <a:off x="8280400" y="4826000"/>
            <a:ext cx="28702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设定任务的紧急程度：</a:t>
            </a:r>
            <a:r>
              <a:rPr lang="en-US" b="false" i="false" strike="noStrike" u="none" sz="13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-165100" marL="165100">
              <a:lnSpc>
                <a:spcPct val="125000"/>
              </a:lnSpc>
              <a:buClr>
                <a:srgbClr val="666666"/>
              </a:buClr>
              <a:buChar char="•"/>
            </a:pPr>
            <a:r>
              <a:rPr lang="en-US" b="false" i="false" strike="noStrike" u="none" sz="13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Highest / High / Medium</a:t>
            </a:r>
            <a:r>
              <a:rPr lang="en-US" b="false" i="false" strike="noStrike" u="none" sz="13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165100" marL="165100">
              <a:lnSpc>
                <a:spcPct val="125000"/>
              </a:lnSpc>
              <a:buClr>
                <a:srgbClr val="666666"/>
              </a:buClr>
              <a:buChar char="•"/>
            </a:pPr>
            <a:r>
              <a:rPr lang="en-US" b="false" i="false" strike="noStrike" u="none" sz="13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Low / Lowest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52FF"/>
                </a:solidFill>
                <a:latin typeface="Noto Sans SC"/>
                <a:ea typeface="Noto Sans SC"/>
                <a:cs typeface="Noto Sans SC"/>
                <a:sym typeface="Noto Sans SC"/>
              </a:rPr>
              <a:t>Jira Ticket关键字段（二）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651000"/>
            <a:ext cx="3302000" cy="2032000"/>
          </a:xfrm>
          <a:prstGeom prst="roundRect">
            <a:avLst>
              <a:gd name="adj" fmla="val 6250"/>
            </a:avLst>
          </a:prstGeom>
          <a:solidFill>
            <a:srgbClr val="FFFFFF">
              <a:alpha val="90000"/>
            </a:srgbClr>
          </a:solidFill>
          <a:ln cmpd="sng" cap="flat">
            <a:solidFill>
              <a:srgbClr val="E6CFCF">
                <a:alpha val="90000"/>
              </a:srgbClr>
            </a:solidFill>
            <a:prstDash val="solid"/>
            <a:round/>
          </a:ln>
          <a:effectLst>
            <a:outerShdw dir="2700000" dist="50800" blurRad="127000" algn="tl" rotWithShape="false">
              <a:srgbClr val="0052FF">
                <a:alpha val="1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1905000"/>
            <a:ext cx="406400" cy="4064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524000" y="1905000"/>
            <a:ext cx="228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52FF"/>
                </a:solidFill>
                <a:latin typeface="Noto Sans SC"/>
                <a:ea typeface="Noto Sans SC"/>
                <a:cs typeface="Noto Sans SC"/>
                <a:sym typeface="Noto Sans SC"/>
              </a:rPr>
              <a:t>Epic Link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-15626" flipH="false" flipV="false">
            <a:off x="1016014" y="240665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7" id="7"/>
          <p:cNvSpPr/>
          <p:nvPr/>
        </p:nvSpPr>
        <p:spPr>
          <a:xfrm rot="0" flipH="false" flipV="false">
            <a:off x="1016000" y="2540000"/>
            <a:ext cx="2794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808080"/>
                </a:solidFill>
                <a:latin typeface="Noto Sans SC"/>
                <a:ea typeface="Noto Sans SC"/>
                <a:cs typeface="Noto Sans SC"/>
                <a:sym typeface="Noto Sans SC"/>
              </a:rPr>
              <a:t>大功能块，用于将多个相关的用户故事组织成一个整体。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4445000" y="1651000"/>
            <a:ext cx="3302000" cy="2032000"/>
          </a:xfrm>
          <a:prstGeom prst="roundRect">
            <a:avLst>
              <a:gd name="adj" fmla="val 6250"/>
            </a:avLst>
          </a:prstGeom>
          <a:solidFill>
            <a:srgbClr val="FFFFFF">
              <a:alpha val="90000"/>
            </a:srgbClr>
          </a:solidFill>
          <a:ln cmpd="sng" cap="flat">
            <a:solidFill>
              <a:srgbClr val="E6CFCF">
                <a:alpha val="90000"/>
              </a:srgbClr>
            </a:solidFill>
            <a:prstDash val="solid"/>
            <a:round/>
          </a:ln>
          <a:effectLst>
            <a:outerShdw dir="2700000" dist="50800" blurRad="127000" algn="tl" rotWithShape="false">
              <a:srgbClr val="0052FF">
                <a:alpha val="1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4699000" y="1905000"/>
            <a:ext cx="406400" cy="4064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5207000" y="1905000"/>
            <a:ext cx="228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52FF"/>
                </a:solidFill>
                <a:latin typeface="Noto Sans SC"/>
                <a:ea typeface="Noto Sans SC"/>
                <a:cs typeface="Noto Sans SC"/>
                <a:sym typeface="Noto Sans SC"/>
              </a:rPr>
              <a:t>Team</a:t>
            </a:r>
            <a:endParaRPr lang="en-US" sz="1100"/>
          </a:p>
        </p:txBody>
      </p:sp>
      <p:cxnSp>
        <p:nvCxnSpPr>
          <p:cNvPr name="Connector 11" id="11"/>
          <p:cNvCxnSpPr/>
          <p:nvPr/>
        </p:nvCxnSpPr>
        <p:spPr>
          <a:xfrm rot="-15626" flipH="false" flipV="false">
            <a:off x="4699014" y="240665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2" id="12"/>
          <p:cNvSpPr/>
          <p:nvPr/>
        </p:nvSpPr>
        <p:spPr>
          <a:xfrm rot="0" flipH="false" flipV="false">
            <a:off x="4699000" y="2540000"/>
            <a:ext cx="2794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808080"/>
                </a:solidFill>
                <a:latin typeface="Noto Sans SC"/>
                <a:ea typeface="Noto Sans SC"/>
                <a:cs typeface="Noto Sans SC"/>
                <a:sym typeface="Noto Sans SC"/>
              </a:rPr>
              <a:t>归属团队名称，帮助对任务进行归类和责任划分。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8128000" y="1651000"/>
            <a:ext cx="3302000" cy="2032000"/>
          </a:xfrm>
          <a:prstGeom prst="roundRect">
            <a:avLst>
              <a:gd name="adj" fmla="val 6250"/>
            </a:avLst>
          </a:prstGeom>
          <a:solidFill>
            <a:srgbClr val="FFFFFF">
              <a:alpha val="90000"/>
            </a:srgbClr>
          </a:solidFill>
          <a:ln cmpd="sng" cap="flat">
            <a:solidFill>
              <a:srgbClr val="E6CFCF">
                <a:alpha val="90000"/>
              </a:srgbClr>
            </a:solidFill>
            <a:prstDash val="solid"/>
            <a:round/>
          </a:ln>
          <a:effectLst>
            <a:outerShdw dir="2700000" dist="50800" blurRad="127000" algn="tl" rotWithShape="false">
              <a:srgbClr val="0052FF">
                <a:alpha val="1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8382000" y="1905000"/>
            <a:ext cx="406400" cy="4064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8890000" y="1905000"/>
            <a:ext cx="228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52FF"/>
                </a:solidFill>
                <a:latin typeface="Noto Sans SC"/>
                <a:ea typeface="Noto Sans SC"/>
                <a:cs typeface="Noto Sans SC"/>
                <a:sym typeface="Noto Sans SC"/>
              </a:rPr>
              <a:t>Sprint</a:t>
            </a:r>
            <a:endParaRPr lang="en-US" sz="1100"/>
          </a:p>
        </p:txBody>
      </p:sp>
      <p:cxnSp>
        <p:nvCxnSpPr>
          <p:cNvPr name="Connector 16" id="16"/>
          <p:cNvCxnSpPr/>
          <p:nvPr/>
        </p:nvCxnSpPr>
        <p:spPr>
          <a:xfrm rot="-15626" flipH="false" flipV="false">
            <a:off x="8382014" y="240665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7" id="17"/>
          <p:cNvSpPr/>
          <p:nvPr/>
        </p:nvSpPr>
        <p:spPr>
          <a:xfrm rot="0" flipH="false" flipV="false">
            <a:off x="8382000" y="2540000"/>
            <a:ext cx="2794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808080"/>
                </a:solidFill>
                <a:latin typeface="Noto Sans SC"/>
                <a:ea typeface="Noto Sans SC"/>
                <a:cs typeface="Noto Sans SC"/>
                <a:sym typeface="Noto Sans SC"/>
              </a:rPr>
              <a:t>Ticket所在的迭代周期，用于敏捷开发中的进度跟踪。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762000" y="3937000"/>
            <a:ext cx="3302000" cy="2032000"/>
          </a:xfrm>
          <a:prstGeom prst="roundRect">
            <a:avLst>
              <a:gd name="adj" fmla="val 6250"/>
            </a:avLst>
          </a:prstGeom>
          <a:solidFill>
            <a:srgbClr val="FFFFFF">
              <a:alpha val="90000"/>
            </a:srgbClr>
          </a:solidFill>
          <a:ln cmpd="sng" cap="flat">
            <a:solidFill>
              <a:srgbClr val="E6CFCF">
                <a:alpha val="90000"/>
              </a:srgbClr>
            </a:solidFill>
            <a:prstDash val="solid"/>
            <a:round/>
          </a:ln>
          <a:effectLst>
            <a:outerShdw dir="2700000" dist="50800" blurRad="127000" algn="tl" rotWithShape="false">
              <a:srgbClr val="0052FF">
                <a:alpha val="1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1016000" y="4191000"/>
            <a:ext cx="406400" cy="406400"/>
          </a:xfrm>
          <a:prstGeom prst="rect">
            <a:avLst/>
          </a:prstGeom>
        </p:spPr>
      </p:pic>
      <p:sp>
        <p:nvSpPr>
          <p:cNvPr name="AutoShape 20" id="20"/>
          <p:cNvSpPr/>
          <p:nvPr/>
        </p:nvSpPr>
        <p:spPr>
          <a:xfrm rot="0" flipH="false" flipV="false">
            <a:off x="1524000" y="4191000"/>
            <a:ext cx="228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52FF"/>
                </a:solidFill>
                <a:latin typeface="Noto Sans SC"/>
                <a:ea typeface="Noto Sans SC"/>
                <a:cs typeface="Noto Sans SC"/>
                <a:sym typeface="Noto Sans SC"/>
              </a:rPr>
              <a:t>Original Estimate</a:t>
            </a:r>
            <a:endParaRPr lang="en-US" sz="1100"/>
          </a:p>
        </p:txBody>
      </p:sp>
      <p:cxnSp>
        <p:nvCxnSpPr>
          <p:cNvPr name="Connector 21" id="21"/>
          <p:cNvCxnSpPr/>
          <p:nvPr/>
        </p:nvCxnSpPr>
        <p:spPr>
          <a:xfrm rot="-15626" flipH="false" flipV="false">
            <a:off x="1016014" y="469265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2" id="22"/>
          <p:cNvSpPr/>
          <p:nvPr/>
        </p:nvSpPr>
        <p:spPr>
          <a:xfrm rot="0" flipH="false" flipV="false">
            <a:off x="1016000" y="4826000"/>
            <a:ext cx="2794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808080"/>
                </a:solidFill>
                <a:latin typeface="Noto Sans SC"/>
                <a:ea typeface="Noto Sans SC"/>
                <a:cs typeface="Noto Sans SC"/>
                <a:sym typeface="Noto Sans SC"/>
              </a:rPr>
              <a:t>最初预估的工作量，通常以小时为单位，辅助容量规划。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4445000" y="3937000"/>
            <a:ext cx="3302000" cy="2032000"/>
          </a:xfrm>
          <a:prstGeom prst="roundRect">
            <a:avLst>
              <a:gd name="adj" fmla="val 6250"/>
            </a:avLst>
          </a:prstGeom>
          <a:solidFill>
            <a:srgbClr val="FFFFFF">
              <a:alpha val="90000"/>
            </a:srgbClr>
          </a:solidFill>
          <a:ln cmpd="sng" cap="flat">
            <a:solidFill>
              <a:srgbClr val="E6CFCF">
                <a:alpha val="90000"/>
              </a:srgbClr>
            </a:solidFill>
            <a:prstDash val="solid"/>
            <a:round/>
          </a:ln>
          <a:effectLst>
            <a:outerShdw dir="2700000" dist="50800" blurRad="127000" algn="tl" rotWithShape="false">
              <a:srgbClr val="0052FF">
                <a:alpha val="1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4" id="24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 flipH="false" flipV="false">
            <a:off x="4699000" y="4191000"/>
            <a:ext cx="406400" cy="406400"/>
          </a:xfrm>
          <a:prstGeom prst="rect">
            <a:avLst/>
          </a:prstGeom>
        </p:spPr>
      </p:pic>
      <p:sp>
        <p:nvSpPr>
          <p:cNvPr name="AutoShape 25" id="25"/>
          <p:cNvSpPr/>
          <p:nvPr/>
        </p:nvSpPr>
        <p:spPr>
          <a:xfrm rot="0" flipH="false" flipV="false">
            <a:off x="5207000" y="4191000"/>
            <a:ext cx="228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52FF"/>
                </a:solidFill>
                <a:latin typeface="Noto Sans SC"/>
                <a:ea typeface="Noto Sans SC"/>
                <a:cs typeface="Noto Sans SC"/>
                <a:sym typeface="Noto Sans SC"/>
              </a:rPr>
              <a:t>Story Points</a:t>
            </a:r>
            <a:endParaRPr lang="en-US" sz="1100"/>
          </a:p>
        </p:txBody>
      </p:sp>
      <p:cxnSp>
        <p:nvCxnSpPr>
          <p:cNvPr name="Connector 26" id="26"/>
          <p:cNvCxnSpPr/>
          <p:nvPr/>
        </p:nvCxnSpPr>
        <p:spPr>
          <a:xfrm rot="-15626" flipH="false" flipV="false">
            <a:off x="4699014" y="469265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7" id="27"/>
          <p:cNvSpPr/>
          <p:nvPr/>
        </p:nvSpPr>
        <p:spPr>
          <a:xfrm rot="0" flipH="false" flipV="false">
            <a:off x="4699000" y="4826000"/>
            <a:ext cx="2794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808080"/>
                </a:solidFill>
                <a:latin typeface="Noto Sans SC"/>
                <a:ea typeface="Noto Sans SC"/>
                <a:cs typeface="Noto Sans SC"/>
                <a:sym typeface="Noto Sans SC"/>
              </a:rPr>
              <a:t>对需求复杂度的估算，用于相对规模评估和预测。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8128000" y="3937000"/>
            <a:ext cx="3302000" cy="2032000"/>
          </a:xfrm>
          <a:prstGeom prst="roundRect">
            <a:avLst>
              <a:gd name="adj" fmla="val 6250"/>
            </a:avLst>
          </a:prstGeom>
          <a:solidFill>
            <a:srgbClr val="FFFFFF">
              <a:alpha val="90000"/>
            </a:srgbClr>
          </a:solidFill>
          <a:ln cmpd="sng" cap="flat">
            <a:solidFill>
              <a:srgbClr val="E6CFCF">
                <a:alpha val="90000"/>
              </a:srgbClr>
            </a:solidFill>
            <a:prstDash val="solid"/>
            <a:round/>
          </a:ln>
          <a:effectLst>
            <a:outerShdw dir="2700000" dist="50800" blurRad="127000" algn="tl" rotWithShape="false">
              <a:srgbClr val="0052FF">
                <a:alpha val="1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9" id="29"/>
          <p:cNvPicPr>
            <a:picLocks noChangeAspect="true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0" flipH="false" flipV="false">
            <a:off x="8382000" y="4191000"/>
            <a:ext cx="406400" cy="406400"/>
          </a:xfrm>
          <a:prstGeom prst="rect">
            <a:avLst/>
          </a:prstGeom>
        </p:spPr>
      </p:pic>
      <p:sp>
        <p:nvSpPr>
          <p:cNvPr name="AutoShape 30" id="30"/>
          <p:cNvSpPr/>
          <p:nvPr/>
        </p:nvSpPr>
        <p:spPr>
          <a:xfrm rot="0" flipH="false" flipV="false">
            <a:off x="8890000" y="4191000"/>
            <a:ext cx="228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52FF"/>
                </a:solidFill>
                <a:latin typeface="Noto Sans SC"/>
                <a:ea typeface="Noto Sans SC"/>
                <a:cs typeface="Noto Sans SC"/>
                <a:sym typeface="Noto Sans SC"/>
              </a:rPr>
              <a:t>Fix Version</a:t>
            </a:r>
            <a:endParaRPr lang="en-US" sz="1100"/>
          </a:p>
        </p:txBody>
      </p:sp>
      <p:cxnSp>
        <p:nvCxnSpPr>
          <p:cNvPr name="Connector 31" id="31"/>
          <p:cNvCxnSpPr/>
          <p:nvPr/>
        </p:nvCxnSpPr>
        <p:spPr>
          <a:xfrm rot="-15626" flipH="false" flipV="false">
            <a:off x="8382014" y="469265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32" id="32"/>
          <p:cNvSpPr/>
          <p:nvPr/>
        </p:nvSpPr>
        <p:spPr>
          <a:xfrm rot="0" flipH="false" flipV="false">
            <a:off x="8382000" y="4826000"/>
            <a:ext cx="2794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808080"/>
                </a:solidFill>
                <a:latin typeface="Noto Sans SC"/>
                <a:ea typeface="Noto Sans SC"/>
                <a:cs typeface="Noto Sans SC"/>
                <a:sym typeface="Noto Sans SC"/>
              </a:rPr>
              <a:t>任务计划发布的目标版本号，明确交付时间节点。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609600" y="2413000"/>
            <a:ext cx="109728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52FF"/>
                </a:solidFill>
                <a:latin typeface="Noto Sans SC"/>
                <a:ea typeface="Noto Sans SC"/>
                <a:cs typeface="Noto Sans SC"/>
                <a:sym typeface="Noto Sans SC"/>
              </a:rPr>
              <a:t>敏捷会议流程：高效协作的关键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609600" y="3302000"/>
            <a:ext cx="109728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808080"/>
                </a:solidFill>
                <a:latin typeface="Noto Sans SC"/>
                <a:ea typeface="Noto Sans SC"/>
                <a:cs typeface="Noto Sans SC"/>
                <a:sym typeface="Noto Sans SC"/>
              </a:rPr>
              <a:t>PART 03 / SCRUM EVENTS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42969" flipH="false" flipV="false">
            <a:off x="5588040" y="393065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mpd="sng" cap="flat">
            <a:solidFill>
              <a:srgbClr val="FF7F00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52FF"/>
                </a:solidFill>
                <a:latin typeface="Noto Sans SC"/>
                <a:ea typeface="Noto Sans SC"/>
                <a:cs typeface="Noto Sans SC"/>
                <a:sym typeface="Noto Sans SC"/>
              </a:rPr>
              <a:t>Sprint规划会议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524000"/>
            <a:ext cx="5207000" cy="4572000"/>
          </a:xfrm>
          <a:prstGeom prst="roundRect">
            <a:avLst>
              <a:gd name="adj" fmla="val 2777"/>
            </a:avLst>
          </a:prstGeom>
          <a:solidFill>
            <a:srgbClr val="FFFFFF">
              <a:alpha val="9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27000" algn="tl" rotWithShape="false">
              <a:srgbClr val="000000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79500" y="1841500"/>
            <a:ext cx="304800" cy="3048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460500" y="1803400"/>
            <a:ext cx="4191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会议时长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460500" y="2133600"/>
            <a:ext cx="4191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808080"/>
                </a:solidFill>
                <a:latin typeface="Noto Sans SC"/>
                <a:ea typeface="Noto Sans SC"/>
                <a:cs typeface="Noto Sans SC"/>
                <a:sym typeface="Noto Sans SC"/>
              </a:rPr>
              <a:t>1小时 / 每两周Sprint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-9549" flipH="false" flipV="false">
            <a:off x="1079509" y="2508250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0F0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8" id="8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079500" y="2705100"/>
            <a:ext cx="304800" cy="3048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1460500" y="2667000"/>
            <a:ext cx="4191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核心目的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460500" y="2997200"/>
            <a:ext cx="4191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808080"/>
                </a:solidFill>
                <a:latin typeface="Noto Sans SC"/>
                <a:ea typeface="Noto Sans SC"/>
                <a:cs typeface="Noto Sans SC"/>
                <a:sym typeface="Noto Sans SC"/>
              </a:rPr>
              <a:t>确定Sprint目标与选择待办项 (Backlog)</a:t>
            </a:r>
            <a:endParaRPr lang="en-US" sz="1100"/>
          </a:p>
        </p:txBody>
      </p:sp>
      <p:cxnSp>
        <p:nvCxnSpPr>
          <p:cNvPr name="Connector 11" id="11"/>
          <p:cNvCxnSpPr/>
          <p:nvPr/>
        </p:nvCxnSpPr>
        <p:spPr>
          <a:xfrm rot="-9549" flipH="false" flipV="false">
            <a:off x="1079509" y="3371850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0F0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12" id="12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079500" y="3568700"/>
            <a:ext cx="304800" cy="3048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1460500" y="3530600"/>
            <a:ext cx="4191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参与人员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1460500" y="3860800"/>
            <a:ext cx="4191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808080"/>
                </a:solidFill>
                <a:latin typeface="Noto Sans SC"/>
                <a:ea typeface="Noto Sans SC"/>
                <a:cs typeface="Noto Sans SC"/>
                <a:sym typeface="Noto Sans SC"/>
              </a:rPr>
              <a:t>全体Scrum团队 (PO, SM, Dev Team)</a:t>
            </a:r>
            <a:endParaRPr lang="en-US" sz="1100"/>
          </a:p>
        </p:txBody>
      </p:sp>
      <p:cxnSp>
        <p:nvCxnSpPr>
          <p:cNvPr name="Connector 15" id="15"/>
          <p:cNvCxnSpPr/>
          <p:nvPr/>
        </p:nvCxnSpPr>
        <p:spPr>
          <a:xfrm rot="-9549" flipH="false" flipV="false">
            <a:off x="1079509" y="4235450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0F0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16" id="16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1079500" y="4432300"/>
            <a:ext cx="304800" cy="3048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1460500" y="4394200"/>
            <a:ext cx="4191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关键流程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1460500" y="4724400"/>
            <a:ext cx="4191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808080"/>
                </a:solidFill>
                <a:latin typeface="Noto Sans SC"/>
                <a:ea typeface="Noto Sans SC"/>
                <a:cs typeface="Noto Sans SC"/>
                <a:sym typeface="Noto Sans SC"/>
              </a:rPr>
              <a:t>需求澄清 → 工作量估算 → 共同承诺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223000" y="1524000"/>
            <a:ext cx="5207000" cy="4572000"/>
          </a:xfrm>
          <a:prstGeom prst="roundRect">
            <a:avLst>
              <a:gd name="adj" fmla="val 2777"/>
            </a:avLst>
          </a:prstGeom>
          <a:solidFill>
            <a:srgbClr val="FFFFFF">
              <a:alpha val="9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27000" algn="tl" rotWithShape="false">
              <a:srgbClr val="000000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11"/>
          <a:srcRect l="0" r="0" t="6578" b="6578"/>
          <a:stretch>
            <a:fillRect/>
          </a:stretch>
        </p:blipFill>
        <p:spPr>
          <a:xfrm rot="0" flipH="false" flipV="false">
            <a:off x="6413500" y="1714500"/>
            <a:ext cx="4826000" cy="4191000"/>
          </a:xfrm>
          <a:prstGeom prst="roundRect">
            <a:avLst>
              <a:gd name="adj" fmla="val 3030"/>
            </a:avLst>
          </a:prstGeom>
          <a:noFill/>
          <a:ln w="25400" cmpd="sng" cap="flat">
            <a:noFill/>
            <a:prstDash val="solid"/>
            <a:round/>
          </a:ln>
        </p:spPr>
      </p:pic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52FF"/>
                </a:solidFill>
                <a:latin typeface="Noto Sans SC"/>
                <a:ea typeface="Noto Sans SC"/>
                <a:cs typeface="Noto Sans SC"/>
                <a:sym typeface="Noto Sans SC"/>
              </a:rPr>
              <a:t>每日站会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524000"/>
            <a:ext cx="50800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90000"/>
            </a:srgbClr>
          </a:solidFill>
          <a:ln cmpd="sng" cap="flat">
            <a:solidFill>
              <a:srgbClr val="E6CFCF">
                <a:alpha val="90000"/>
              </a:srgbClr>
            </a:solidFill>
            <a:prstDash val="solid"/>
            <a:round/>
          </a:ln>
          <a:effectLst>
            <a:outerShdw dir="2700000" dist="50800" blurRad="127000" algn="tl" rotWithShape="false">
              <a:srgbClr val="0052FF">
                <a:alpha val="1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1778000"/>
            <a:ext cx="406400" cy="4064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524000" y="1752600"/>
            <a:ext cx="406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时长：15分钟</a:t>
            </a:r>
            <a:endParaRPr lang="en-US" sz="1100"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016000" y="2222500"/>
            <a:ext cx="406400" cy="4064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524000" y="2197100"/>
            <a:ext cx="406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目的：同步进度，识别障碍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62000" y="3175000"/>
            <a:ext cx="5080000" cy="2540000"/>
          </a:xfrm>
          <a:prstGeom prst="roundRect">
            <a:avLst>
              <a:gd name="adj" fmla="val 5000"/>
            </a:avLst>
          </a:prstGeom>
          <a:solidFill>
            <a:srgbClr val="FFFFFF">
              <a:alpha val="90000"/>
            </a:srgbClr>
          </a:solidFill>
          <a:ln cmpd="sng" cap="flat">
            <a:solidFill>
              <a:srgbClr val="E6CFCF">
                <a:alpha val="90000"/>
              </a:srgbClr>
            </a:solidFill>
            <a:prstDash val="solid"/>
            <a:round/>
          </a:ln>
          <a:effectLst>
            <a:outerShdw dir="2700000" dist="50800" blurRad="127000" algn="tl" rotWithShape="false">
              <a:srgbClr val="0052FF">
                <a:alpha val="1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016000" y="3365500"/>
            <a:ext cx="457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52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核心议题 (3个问题)</a:t>
            </a:r>
            <a:endParaRPr lang="en-US" sz="1100"/>
          </a:p>
        </p:txBody>
      </p:sp>
      <p:cxnSp>
        <p:nvCxnSpPr>
          <p:cNvPr name="Connector 10" id="10"/>
          <p:cNvCxnSpPr/>
          <p:nvPr/>
        </p:nvCxnSpPr>
        <p:spPr>
          <a:xfrm rot="-9549" flipH="false" flipV="false">
            <a:off x="1016009" y="3740150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6E6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11" id="11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016000" y="3937000"/>
            <a:ext cx="304800" cy="3048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1397000" y="3911600"/>
            <a:ext cx="419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我昨天完成了什么？</a:t>
            </a:r>
            <a:endParaRPr lang="en-US" sz="1100"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016000" y="4381500"/>
            <a:ext cx="304800" cy="3048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1397000" y="4356100"/>
            <a:ext cx="419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我今天计划做什么？</a:t>
            </a:r>
            <a:endParaRPr lang="en-US" sz="1100"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016000" y="4826000"/>
            <a:ext cx="304800" cy="3048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1397000" y="4800600"/>
            <a:ext cx="419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我遇到了什么障碍？</a:t>
            </a:r>
            <a:endParaRPr lang="en-US" sz="1100"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9"/>
          <a:srcRect l="0" r="0" t="9756" b="9756"/>
          <a:stretch>
            <a:fillRect/>
          </a:stretch>
        </p:blipFill>
        <p:spPr>
          <a:xfrm rot="0" flipH="false" flipV="false">
            <a:off x="6223000" y="1524000"/>
            <a:ext cx="5207000" cy="4191000"/>
          </a:xfrm>
          <a:prstGeom prst="roundRect">
            <a:avLst>
              <a:gd name="adj" fmla="val 3030"/>
            </a:avLst>
          </a:prstGeom>
          <a:noFill/>
          <a:ln w="25400" cmpd="sng" cap="flat">
            <a:noFill/>
            <a:prstDash val="solid"/>
            <a:round/>
          </a:ln>
          <a:effectLst>
            <a:outerShdw dir="2700000" dist="76200" blurRad="190500" algn="tl" rotWithShape="false">
              <a:srgbClr val="000000">
                <a:alpha val="15000"/>
              </a:srgbClr>
            </a:outerShdw>
          </a:effectLst>
        </p:spPr>
      </p:pic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52FF"/>
                </a:solidFill>
                <a:latin typeface="Noto Sans SC"/>
                <a:ea typeface="Noto Sans SC"/>
                <a:cs typeface="Noto Sans SC"/>
                <a:sym typeface="Noto Sans SC"/>
              </a:rPr>
              <a:t>Sprint回顾会议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397000"/>
            <a:ext cx="5334000" cy="4826000"/>
          </a:xfrm>
          <a:prstGeom prst="roundRect">
            <a:avLst>
              <a:gd name="adj" fmla="val 2631"/>
            </a:avLst>
          </a:prstGeom>
          <a:solidFill>
            <a:srgbClr val="FFFFFF">
              <a:alpha val="95000"/>
            </a:srgbClr>
          </a:solidFill>
          <a:ln w="25400" cmpd="sng" cap="flat">
            <a:noFill/>
            <a:prstDash val="solid"/>
            <a:round/>
          </a:ln>
          <a:effectLst>
            <a:outerShdw dir="2700000" dist="101600" blurRad="190500" algn="tl" rotWithShape="false">
              <a:srgbClr val="0052FF">
                <a:alpha val="1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143000" y="1778000"/>
            <a:ext cx="355600" cy="3556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651000" y="1778000"/>
            <a:ext cx="4064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会议时长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651000" y="2133600"/>
            <a:ext cx="4064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808080"/>
                </a:solidFill>
                <a:latin typeface="Noto Sans SC"/>
                <a:ea typeface="Noto Sans SC"/>
                <a:cs typeface="Noto Sans SC"/>
                <a:sym typeface="Noto Sans SC"/>
              </a:rPr>
              <a:t>1小时 / 每两周一次Sprint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-9549" flipH="false" flipV="false">
            <a:off x="1143009" y="2533650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052F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8" id="8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143000" y="2730500"/>
            <a:ext cx="355600" cy="3556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1651000" y="2730500"/>
            <a:ext cx="4064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核心目的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651000" y="3086100"/>
            <a:ext cx="4064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808080"/>
                </a:solidFill>
                <a:latin typeface="Noto Sans SC"/>
                <a:ea typeface="Noto Sans SC"/>
                <a:cs typeface="Noto Sans SC"/>
                <a:sym typeface="Noto Sans SC"/>
              </a:rPr>
              <a:t>持续改进 Scrum 流程与团队协作效率</a:t>
            </a:r>
            <a:endParaRPr lang="en-US" sz="1100"/>
          </a:p>
        </p:txBody>
      </p:sp>
      <p:cxnSp>
        <p:nvCxnSpPr>
          <p:cNvPr name="Connector 11" id="11"/>
          <p:cNvCxnSpPr/>
          <p:nvPr/>
        </p:nvCxnSpPr>
        <p:spPr>
          <a:xfrm rot="-9549" flipH="false" flipV="false">
            <a:off x="1143009" y="3486150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052F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12" id="12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143000" y="3683000"/>
            <a:ext cx="355600" cy="3556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1651000" y="3683000"/>
            <a:ext cx="4064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参与人员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1651000" y="4038600"/>
            <a:ext cx="4064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808080"/>
                </a:solidFill>
                <a:latin typeface="Noto Sans SC"/>
                <a:ea typeface="Noto Sans SC"/>
                <a:cs typeface="Noto Sans SC"/>
                <a:sym typeface="Noto Sans SC"/>
              </a:rPr>
              <a:t>全体 Scrum 团队成员 (PO, SM, Dev)</a:t>
            </a:r>
            <a:endParaRPr lang="en-US" sz="1100"/>
          </a:p>
        </p:txBody>
      </p:sp>
      <p:cxnSp>
        <p:nvCxnSpPr>
          <p:cNvPr name="Connector 15" id="15"/>
          <p:cNvCxnSpPr/>
          <p:nvPr/>
        </p:nvCxnSpPr>
        <p:spPr>
          <a:xfrm rot="-9549" flipH="false" flipV="false">
            <a:off x="1143009" y="4438650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052F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16" id="16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1143000" y="4635500"/>
            <a:ext cx="355600" cy="3556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1651000" y="4635500"/>
            <a:ext cx="4064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回顾流程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1651000" y="4991100"/>
            <a:ext cx="4064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808080"/>
                </a:solidFill>
                <a:latin typeface="Noto Sans SC"/>
                <a:ea typeface="Noto Sans SC"/>
                <a:cs typeface="Noto Sans SC"/>
                <a:sym typeface="Noto Sans SC"/>
              </a:rPr>
              <a:t>做得好的 → 待改进的 → 制定行动计划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350000" y="1397000"/>
            <a:ext cx="5080000" cy="4826000"/>
          </a:xfrm>
          <a:prstGeom prst="roundRect">
            <a:avLst>
              <a:gd name="adj" fmla="val 2631"/>
            </a:avLst>
          </a:prstGeom>
          <a:solidFill>
            <a:srgbClr val="FFFFFF">
              <a:alpha val="95000"/>
            </a:srgbClr>
          </a:solidFill>
          <a:ln w="25400" cmpd="sng" cap="flat">
            <a:noFill/>
            <a:prstDash val="solid"/>
            <a:round/>
          </a:ln>
          <a:effectLst>
            <a:outerShdw dir="2700000" dist="101600" blurRad="190500" algn="tl" rotWithShape="false">
              <a:srgbClr val="0052FF">
                <a:alpha val="1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11"/>
          <a:srcRect l="0" r="0" t="2702" b="2702"/>
          <a:stretch>
            <a:fillRect/>
          </a:stretch>
        </p:blipFill>
        <p:spPr>
          <a:xfrm rot="0" flipH="false" flipV="false">
            <a:off x="6540500" y="1587500"/>
            <a:ext cx="4699000" cy="4445000"/>
          </a:xfrm>
          <a:prstGeom prst="roundRect">
            <a:avLst>
              <a:gd name="adj" fmla="val 2857"/>
            </a:avLst>
          </a:prstGeom>
          <a:noFill/>
          <a:ln w="25400" cmpd="sng" cap="flat">
            <a:noFill/>
            <a:prstDash val="solid"/>
            <a:round/>
          </a:ln>
        </p:spPr>
      </p:pic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52FF"/>
                </a:solidFill>
                <a:latin typeface="Noto Sans SC"/>
                <a:ea typeface="Noto Sans SC"/>
                <a:cs typeface="Noto Sans SC"/>
                <a:sym typeface="Noto Sans SC"/>
              </a:rPr>
              <a:t>产品待办项梳理会议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524000"/>
            <a:ext cx="5080000" cy="4572000"/>
          </a:xfrm>
          <a:prstGeom prst="roundRect">
            <a:avLst>
              <a:gd name="adj" fmla="val 2777"/>
            </a:avLst>
          </a:prstGeom>
          <a:solidFill>
            <a:srgbClr val="FFFFFF">
              <a:alpha val="9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27000" algn="tl" rotWithShape="false">
              <a:srgbClr val="0052FF">
                <a:alpha val="1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143000" y="1905000"/>
            <a:ext cx="355600" cy="3556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651000" y="1879600"/>
            <a:ext cx="3937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052FF"/>
                </a:solidFill>
                <a:latin typeface="Noto Sans SC"/>
                <a:ea typeface="Noto Sans SC"/>
                <a:cs typeface="Noto Sans SC"/>
                <a:sym typeface="Noto Sans SC"/>
              </a:rPr>
              <a:t>会议时间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808080"/>
                </a:solidFill>
                <a:latin typeface="Noto Sans SC"/>
                <a:ea typeface="Noto Sans SC"/>
                <a:cs typeface="Noto Sans SC"/>
                <a:sym typeface="Noto Sans SC"/>
              </a:rPr>
              <a:t>按需召开，灵活安排</a:t>
            </a:r>
          </a:p>
        </p:txBody>
      </p:sp>
      <p:cxnSp>
        <p:nvCxnSpPr>
          <p:cNvPr name="Connector 6" id="6"/>
          <p:cNvCxnSpPr/>
          <p:nvPr/>
        </p:nvCxnSpPr>
        <p:spPr>
          <a:xfrm rot="-10110" flipH="false" flipV="false">
            <a:off x="1143009" y="2724150"/>
            <a:ext cx="431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052F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7" id="7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143000" y="2984500"/>
            <a:ext cx="355600" cy="3556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1651000" y="2959100"/>
            <a:ext cx="3937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052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核心目的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808080"/>
                </a:solidFill>
                <a:latin typeface="Noto Sans SC"/>
                <a:ea typeface="Noto Sans SC"/>
                <a:cs typeface="Noto Sans SC"/>
                <a:sym typeface="Noto Sans SC"/>
              </a:rPr>
              <a:t>持续优化 Product Backlog，确保需求清晰准确</a:t>
            </a:r>
          </a:p>
        </p:txBody>
      </p:sp>
      <p:cxnSp>
        <p:nvCxnSpPr>
          <p:cNvPr name="Connector 9" id="9"/>
          <p:cNvCxnSpPr/>
          <p:nvPr/>
        </p:nvCxnSpPr>
        <p:spPr>
          <a:xfrm rot="-10110" flipH="false" flipV="false">
            <a:off x="1143009" y="3803650"/>
            <a:ext cx="431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052F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10" id="10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143000" y="4064000"/>
            <a:ext cx="355600" cy="3556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1651000" y="4038600"/>
            <a:ext cx="3937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052FF"/>
                </a:solidFill>
                <a:latin typeface="Noto Sans SC"/>
                <a:ea typeface="Noto Sans SC"/>
                <a:cs typeface="Noto Sans SC"/>
                <a:sym typeface="Noto Sans SC"/>
              </a:rPr>
              <a:t>主要活动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808080"/>
                </a:solidFill>
                <a:latin typeface="Noto Sans SC"/>
                <a:ea typeface="Noto Sans SC"/>
                <a:cs typeface="Noto Sans SC"/>
                <a:sym typeface="Noto Sans SC"/>
              </a:rPr>
              <a:t>PO 与团队协作：添加、移除、重排、细化待办项，为 Sprint 规划做准备</a:t>
            </a:r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9"/>
          <a:srcRect l="0" r="0" t="6097" b="6097"/>
          <a:stretch>
            <a:fillRect/>
          </a:stretch>
        </p:blipFill>
        <p:spPr>
          <a:xfrm rot="0" flipH="false" flipV="false">
            <a:off x="6223000" y="1524000"/>
            <a:ext cx="5207000" cy="4572000"/>
          </a:xfrm>
          <a:prstGeom prst="roundRect">
            <a:avLst>
              <a:gd name="adj" fmla="val 2777"/>
            </a:avLst>
          </a:prstGeom>
          <a:noFill/>
          <a:ln w="25400" cmpd="sng" cap="flat">
            <a:noFill/>
            <a:prstDash val="solid"/>
            <a:round/>
          </a:ln>
          <a:effectLst>
            <a:outerShdw dir="2700000" dist="50800" blurRad="127000" algn="tl" rotWithShape="false">
              <a:srgbClr val="0052FF">
                <a:alpha val="15000"/>
              </a:srgbClr>
            </a:outerShdw>
          </a:effectLst>
        </p:spPr>
      </p:pic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7F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52FF"/>
                </a:solidFill>
                <a:latin typeface="Noto Sans SC"/>
                <a:ea typeface="Noto Sans SC"/>
                <a:cs typeface="Noto Sans SC"/>
                <a:sym typeface="Noto Sans SC"/>
              </a:rPr>
              <a:t>总结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778000"/>
            <a:ext cx="3302000" cy="4064000"/>
          </a:xfrm>
          <a:prstGeom prst="roundRect">
            <a:avLst>
              <a:gd name="adj" fmla="val 3846"/>
            </a:avLst>
          </a:prstGeom>
          <a:solidFill>
            <a:srgbClr val="FFFFFF">
              <a:alpha val="95000"/>
            </a:srgbClr>
          </a:solidFill>
          <a:ln w="25400" cmpd="sng" cap="flat">
            <a:noFill/>
            <a:prstDash val="solid"/>
            <a:round/>
          </a:ln>
          <a:effectLst>
            <a:outerShdw dir="5400000" dist="101600" blurRad="254000" algn="tl" rotWithShape="false">
              <a:srgbClr val="0052FF">
                <a:alpha val="1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143000" y="2159000"/>
            <a:ext cx="609600" cy="6096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143000" y="2921000"/>
            <a:ext cx="254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掌握 Scrum 框架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-17188" flipH="false" flipV="false">
            <a:off x="1143016" y="3422650"/>
            <a:ext cx="254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FF7F00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8" id="8"/>
          <p:cNvSpPr/>
          <p:nvPr/>
        </p:nvSpPr>
        <p:spPr>
          <a:xfrm rot="0" flipH="false" flipV="false">
            <a:off x="1143000" y="3619500"/>
            <a:ext cx="2540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808080"/>
                </a:solidFill>
                <a:latin typeface="Noto Sans SC"/>
                <a:ea typeface="Noto Sans SC"/>
                <a:cs typeface="Noto Sans SC"/>
                <a:sym typeface="Noto Sans SC"/>
              </a:rPr>
              <a:t>理解敏捷核心价值观，掌握Scrum框架是进行敏捷实践的理论基石，确保团队方向正确。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445000" y="1778000"/>
            <a:ext cx="3302000" cy="4064000"/>
          </a:xfrm>
          <a:prstGeom prst="roundRect">
            <a:avLst>
              <a:gd name="adj" fmla="val 3846"/>
            </a:avLst>
          </a:prstGeom>
          <a:solidFill>
            <a:srgbClr val="FFFFFF">
              <a:alpha val="95000"/>
            </a:srgbClr>
          </a:solidFill>
          <a:ln w="25400" cmpd="sng" cap="flat">
            <a:noFill/>
            <a:prstDash val="solid"/>
            <a:round/>
          </a:ln>
          <a:effectLst>
            <a:outerShdw dir="5400000" dist="101600" blurRad="254000" algn="tl" rotWithShape="false">
              <a:srgbClr val="0052FF">
                <a:alpha val="1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4826000" y="2159000"/>
            <a:ext cx="609600" cy="6096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4826000" y="2921000"/>
            <a:ext cx="254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熟练使用 Jira</a:t>
            </a:r>
            <a:endParaRPr lang="en-US" sz="1100"/>
          </a:p>
        </p:txBody>
      </p:sp>
      <p:cxnSp>
        <p:nvCxnSpPr>
          <p:cNvPr name="Connector 12" id="12"/>
          <p:cNvCxnSpPr/>
          <p:nvPr/>
        </p:nvCxnSpPr>
        <p:spPr>
          <a:xfrm rot="-17188" flipH="false" flipV="false">
            <a:off x="4826016" y="3422650"/>
            <a:ext cx="254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FF7F00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13" id="13"/>
          <p:cNvSpPr/>
          <p:nvPr/>
        </p:nvSpPr>
        <p:spPr>
          <a:xfrm rot="0" flipH="false" flipV="false">
            <a:off x="4826000" y="3619500"/>
            <a:ext cx="2540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808080"/>
                </a:solidFill>
                <a:latin typeface="Noto Sans SC"/>
                <a:ea typeface="Noto Sans SC"/>
                <a:cs typeface="Noto Sans SC"/>
                <a:sym typeface="Noto Sans SC"/>
              </a:rPr>
              <a:t>熟练运用Jira工具进行任务追踪与协作，是将敏捷理论落地，实现高效项目管理的重要保障。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8128000" y="1778000"/>
            <a:ext cx="3302000" cy="4064000"/>
          </a:xfrm>
          <a:prstGeom prst="roundRect">
            <a:avLst>
              <a:gd name="adj" fmla="val 3846"/>
            </a:avLst>
          </a:prstGeom>
          <a:solidFill>
            <a:srgbClr val="FFFFFF">
              <a:alpha val="95000"/>
            </a:srgbClr>
          </a:solidFill>
          <a:ln w="25400" cmpd="sng" cap="flat">
            <a:noFill/>
            <a:prstDash val="solid"/>
            <a:round/>
          </a:ln>
          <a:effectLst>
            <a:outerShdw dir="5400000" dist="101600" blurRad="254000" algn="tl" rotWithShape="false">
              <a:srgbClr val="0052FF">
                <a:alpha val="1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8509000" y="2159000"/>
            <a:ext cx="609600" cy="6096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8509000" y="2921000"/>
            <a:ext cx="254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坚持敏捷会议</a:t>
            </a:r>
            <a:endParaRPr lang="en-US" sz="1100"/>
          </a:p>
        </p:txBody>
      </p:sp>
      <p:cxnSp>
        <p:nvCxnSpPr>
          <p:cNvPr name="Connector 17" id="17"/>
          <p:cNvCxnSpPr/>
          <p:nvPr/>
        </p:nvCxnSpPr>
        <p:spPr>
          <a:xfrm rot="-17188" flipH="false" flipV="false">
            <a:off x="8509016" y="3422650"/>
            <a:ext cx="254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FF7F00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18" id="18"/>
          <p:cNvSpPr/>
          <p:nvPr/>
        </p:nvSpPr>
        <p:spPr>
          <a:xfrm rot="0" flipH="false" flipV="false">
            <a:off x="8509000" y="3619500"/>
            <a:ext cx="2540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808080"/>
                </a:solidFill>
                <a:latin typeface="Noto Sans SC"/>
                <a:ea typeface="Noto Sans SC"/>
                <a:cs typeface="Noto Sans SC"/>
                <a:sym typeface="Noto Sans SC"/>
              </a:rPr>
              <a:t>坚持执行每日站会与迭代回顾，从中不断学习和改进，是推动团队持续进步的关键动力。</a:t>
            </a:r>
            <a:endParaRPr lang="en-US" sz="1100"/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428">
              <a:alpha val="7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2286000"/>
            <a:ext cx="10160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4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感谢聆听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588000" y="3429000"/>
            <a:ext cx="1016000" cy="50800"/>
          </a:xfrm>
          <a:prstGeom prst="roundRect">
            <a:avLst>
              <a:gd name="adj" fmla="val 0"/>
            </a:avLst>
          </a:prstGeom>
          <a:solidFill>
            <a:srgbClr val="0052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3683000"/>
            <a:ext cx="1016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FF7F00"/>
                </a:solidFill>
                <a:latin typeface="Noto Sans SC"/>
                <a:ea typeface="Noto Sans SC"/>
                <a:cs typeface="Noto Sans SC"/>
                <a:sym typeface="Noto Sans SC"/>
              </a:rPr>
              <a:t>Q &amp; A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43180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C8C8C8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欢迎各位提问与交流</a:t>
            </a:r>
            <a:endParaRPr lang="en-US" sz="1100"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