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大家好，今天我将为大家通俗地解读敏捷宣言，希望能帮助大家真正理解敏捷的核心思想，而不仅仅是停留在表面的流程和工具上。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四个部分：首先，我们会探讨敏捷宣言诞生的背景，看看它究竟在反抗什么；接着，我会逐句为大家解读敏捷宣言的四大核心价值观；然后，我们会一起总结敏捷的灵魂所在；最后，澄清一些关于敏捷的常见误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2001年，一群软件开发领域的专家聚在一起，他们共同的感受是对当时主流的、也就是我们常说的“瀑布式”开发模式感到不满。这种模式过于笨重，流程死板，需要写大量的文档，对变化的响应非常缓慢，而且往往忽视了人的因素，一切都严格按照预先制定的计划执行，哪怕计划已经不符合实际情况。敏捷宣言，正是在这样的背景下诞生的，它的初衷就是要反抗这些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第一条价值观：“个体和互动高于流程和工具”。这句话很容易被误解为“不需要流程和工具”，但其实不是的。它强调的是，流程和工具是为人服务的，而不是反过来。一个团队的成功，关键在于团队成员之间能否有效沟通、紧密协作，而不是看他们是否严格遵守了某个流程或使用了某个工具。如果一个流程或者工具阻碍了团队的沟通和协作，那它就失去了存在的意义。所以，核心是“人”，而不是“流程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条价值观：“工作的软件高于详尽的文档”。同样，这不是说文档不重要，而是说，我们的最终目标是交付一个能解决用户问题的、可以实际运行的软件产品，而不是一堆厚厚的文档。文档是为了帮助我们更好地开发和维护软件，如果文档的撰写占用了过多的时间，以至于影响了软件本身的开发，那就本末倒置了。一个能跑起来的软件，比任何完美的文档都更有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条：“客户合作高于合同谈判”。合同是必要的，它明确了双方的责任和义务。但敏捷更强调的是与客户建立一种合作伙伴关系，而不是一种对立关系。在项目过程中，需求和市场都可能发生变化，如果双方只是死守合同条款，互相提防，很可能导致最终交付的产品并不是客户真正需要的。通过与客户的频繁沟通和紧密合作，我们可以及时调整方向，确保最终的成果是双方都满意的，实现共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条：“响应变化高于遵循计划”。这可能是敏捷最核心的体现之一。计划当然重要，它为我们指明了方向。但我们不能迷信计划，因为在快速变化的市场环境中，计划赶不上变化是常态。一个好的团队，应该具备快速响应变化的能力，而不是死板地遵循一个可能已经过时的计划。计划就像指南针，它告诉我们大致的方向，但具体走哪条路，需要我们根据实际情况灵活调整。能够快速调整方向，比硬着头皮走一条死路要明智得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敏捷宣言的这四条价值观，共同构成了敏捷的灵魂。它不是一套具体的方法或流程，而是一种做事的态度。这种态度的核心就是：重视人的价值，重视能解决问题的实际成果，重视与客户和团队成员的合作，以及积极地拥抱和响应变化。所有这一切，最终的目的只有一个，那就是更快、更准确地交付对用户真正有用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澄清两个非常常见的误区。第一个误区是，很多人认为敏捷就是开站会、做Sprint、用Jira工具。这些确实是敏捷实践中常用的形式，但它们并不是敏捷本身。就像我们之前说的，敏捷的灵魂是那四个价值观，这些形式只是实现价值观的手段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误区是，认为敏捷就是完全不要文档、不要计划。这是对“高于”这个词的误解。敏捷并不是否定文档和计划的价值，而是强调它们的重要性要低于个体互动、工作软件、客户合作和响应变化。我们需要文档和计划，但不能被它们所束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我的分享就到这里，希望能帮助大家对敏捷宣言有一个更清晰、更深入的理解。接下来是问答环节，大家有什么问题都可以提出来一起交流。谢谢大家！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25.jpeg" Type="http://schemas.openxmlformats.org/officeDocument/2006/relationships/image"/><Relationship Id="rId16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jpe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jpe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jpe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jpe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50.jpe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jpe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0.xml" Type="http://schemas.openxmlformats.org/officeDocument/2006/relationships/notesSlide"/><Relationship Id="rId4" Target="../media/image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敏捷宣言通俗解读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5588040" y="3295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让你一听就懂的敏捷之道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6510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0066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敏捷宣言：它在“反抗”什么？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30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2857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32131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四大核心价值观：逐句通俗解读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3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0640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51000" y="44196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敏捷的灵魂：总结与核心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143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5270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651000" y="56261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常见误区：别再理解错了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524000"/>
            <a:ext cx="5080000" cy="4635500"/>
          </a:xfrm>
          <a:prstGeom prst="roundRect">
            <a:avLst>
              <a:gd name="adj" fmla="val 2739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82000" y="2794000"/>
            <a:ext cx="1016000" cy="1016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604000" y="3937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AGENDA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本次分享核心概览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敏捷宣言：它在“反抗”什么？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对传统“瀑布式”开发模式的反思与批判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185" flipH="false" flipV="false">
            <a:off x="762008" y="18351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21336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结构笨重：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层级过多，流程冗余，难以灵活调整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794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7686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流程死板：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过度依赖既定流程，缺乏变通机制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429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34036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文档冗余：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重文档轻沟通，维护大量低价值文档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064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70000" y="40386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响应缓慢：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对市场变化和用户反馈的响应周期过长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62000" y="4699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46736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忽视人性：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将开发者视为机器，忽视团队协作与激励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762000" y="5334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70000" y="53086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唯计划论：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盲目遵循初始计划，缺乏对实际情况的反馈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rcRect l="0" r="0" t="13157" b="13157"/>
          <a:stretch>
            <a:fillRect/>
          </a:stretch>
        </p:blipFill>
        <p:spPr>
          <a:xfrm rot="0" flipH="false" flipV="false">
            <a:off x="6604000" y="2159000"/>
            <a:ext cx="4826000" cy="3556000"/>
          </a:xfrm>
          <a:prstGeom prst="roundRect">
            <a:avLst>
              <a:gd name="adj" fmla="val 535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个体和互动 高于 流程和工具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4953000"/>
          </a:xfrm>
          <a:prstGeom prst="roundRect">
            <a:avLst>
              <a:gd name="adj" fmla="val 25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752600"/>
            <a:ext cx="939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核心理念：人 &gt; 流程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407" flipH="false" flipV="false">
            <a:off x="1143004" y="2279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143000" y="2476500"/>
            <a:ext cx="990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流程与工具是服务于人的，而非反过来绑架人。团队的高效能源于成员间的积极沟通与紧密配合。与其死守僵化的规则，不如回归协作的本质，让工具成为赋能的手段。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0" r="0" t="37820" b="37820"/>
          <a:stretch>
            <a:fillRect/>
          </a:stretch>
        </p:blipFill>
        <p:spPr>
          <a:xfrm rot="0" flipH="false" flipV="false">
            <a:off x="1143000" y="3556000"/>
            <a:ext cx="9906000" cy="2413000"/>
          </a:xfrm>
          <a:prstGeom prst="roundRect">
            <a:avLst>
              <a:gd name="adj" fmla="val 5263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工作的软件 高于 详尽的文档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6256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核心价值观解读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这并不是否定文档的价值，而是强调优先级：软件能跑、能用、有价值才是真成果。文档是辅助开发的工具，而非最终目标。一句话总结：</a:t>
            </a:r>
            <a:r>
              <a:rPr lang="en-US" b="true" i="false" strike="noStrike" u="none" sz="14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能跑的东西 &gt; 写满的文档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r="0" t="22500" b="22500"/>
          <a:stretch>
            <a:fillRect/>
          </a:stretch>
        </p:blipFill>
        <p:spPr>
          <a:xfrm rot="0" flipH="false" flipV="false">
            <a:off x="3556000" y="3429000"/>
            <a:ext cx="5080000" cy="2794000"/>
          </a:xfrm>
          <a:prstGeom prst="roundRect">
            <a:avLst>
              <a:gd name="adj" fmla="val 454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客户合作 高于 合同谈判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51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摒弃对立思维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1968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合同是基础，但不应成为合作的障碍。与客户建立伙伴关系，一起把事做成，比单纯的条款博弈更重要。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68748" flipH="false" flipV="false">
            <a:off x="5397500" y="2343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1651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858000" y="1651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灵活响应变化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58000" y="19685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通过频繁沟通与及时调整，应对市场变化。与其定死一切互相提防，不如保持敏捷，实现“一起赢”。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rcRect l="0" r="0" t="36904" b="36904"/>
          <a:stretch>
            <a:fillRect/>
          </a:stretch>
        </p:blipFill>
        <p:spPr>
          <a:xfrm rot="0" flipH="false" flipV="false">
            <a:off x="762000" y="3556000"/>
            <a:ext cx="10668000" cy="2794000"/>
          </a:xfrm>
          <a:prstGeom prst="roundRect">
            <a:avLst>
              <a:gd name="adj" fmla="val 4545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响应变化 高于 遵循计划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25600"/>
            <a:ext cx="889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核心理念：灵活适应 &gt; 死守教条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计划是指南针，而非镣铐。在快速变化的环境中，我们不能迷信计划，而应保持敏锐。能够快速调整方向，比硬着头皮走死路强。适应变化，才是生存与发展的关键。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r="0" t="36904" b="36904"/>
          <a:stretch>
            <a:fillRect/>
          </a:stretch>
        </p:blipFill>
        <p:spPr>
          <a:xfrm rot="0" flipH="false" flipV="false">
            <a:off x="762000" y="3556000"/>
            <a:ext cx="10668000" cy="2794000"/>
          </a:xfrm>
          <a:prstGeom prst="roundRect">
            <a:avLst>
              <a:gd name="adj" fmla="val 454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敏捷的灵魂：总结与核心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核心价值观：态度决定一切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046" flipH="false" flipV="false">
            <a:off x="1016008" y="221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387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重视人：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关注个体与交互，激发团队潜能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895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重视成果：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交付可工作的软件胜过详尽的文档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403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重视合作：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客户协作优于合同谈判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911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重视变化：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响应变化而非遵循计划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572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7F00">
              <a:alpha val="10000"/>
            </a:srgbClr>
          </a:solidFill>
          <a:ln w="12700" cmpd="sng" cap="flat">
            <a:solidFill>
              <a:srgbClr val="FF7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206500" y="4762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87500" y="4724400"/>
            <a:ext cx="41275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更快、更准地交付对用户真正有用的价值。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rcRect l="0" r="0" t="5000" b="5000"/>
          <a:stretch>
            <a:fillRect/>
          </a:stretch>
        </p:blipFill>
        <p:spPr>
          <a:xfrm rot="0" flipH="false" flipV="false">
            <a:off x="6350000" y="1524000"/>
            <a:ext cx="5080000" cy="4572000"/>
          </a:xfrm>
          <a:prstGeom prst="roundRect">
            <a:avLst>
              <a:gd name="adj" fmla="val 277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常见误区：别再理解错了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588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6764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误区一：敏捷 = 站会、Sprint、Jira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94" flipH="false" flipV="false">
            <a:off x="1016008" y="2089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1844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正确理解：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这些只是形式，宣言里的4个价值观，才是敏捷的灵魂。形式服务于价值观，而非本末倒置。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5588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40894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误区二：敏捷就是不要文档、不要计划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8594" flipH="false" flipV="false">
            <a:off x="1016008" y="4502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635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45974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正确理解：</a:t>
            </a: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敏捷是“高于”，不是“不要”。我们需要文档和计划，但不应被其束缚，要追求更有价值的互动与响应。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2631" b="2631"/>
          <a:stretch>
            <a:fillRect/>
          </a:stretch>
        </p:blipFill>
        <p:spPr>
          <a:xfrm rot="0" flipH="false" flipV="false">
            <a:off x="6604000" y="1524000"/>
            <a:ext cx="4826000" cy="4572000"/>
          </a:xfrm>
          <a:prstGeom prst="roundRect">
            <a:avLst>
              <a:gd name="adj" fmla="val 277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29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互动问答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31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欢迎大家提出问题，共同交流探讨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